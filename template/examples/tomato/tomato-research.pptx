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原创教学演绎，使用家常菜类比科研流程。数值来自合成响应模型，不是食品实验或真实口味结论。建议讲述约 12–15 分钟，按实际演练调整。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用熟悉场景提出一致性问题。这里把原料变化作为待研究因素，不声称已证明真实食品机理。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这是方案类别的教学比较，不是对真实文献的综述，不使用虚构作者和论文。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先明确目标与指标，避免把加辣后更辣作为方法更好的证据。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说明研究范围。下一部分只验证一个清楚的合成响应模型，不能外推到真实烹饪。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模型故意简单，使问题和机制一目了然。不能将其作为菜肴化学或感官科学理论。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推导直接由定义得到。这里没有学习算法，也不将解析补偿包装成新算法。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噪声是对原料因子的加性高斯噪声；估计值下限为0.1。没有训练集拟合，因此无需伪造训练过程。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先读指标与目标，再比较方案。固定原配方没有辣椒通道，是任务对照，不能据此否定不吃辣人群的配方。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消融和主表使用同一批结果，不重复声称新增实验。只表明这个合成模型中的构成作用。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对原料因子轴进行读图引导。散点只展示当前采样范围，不证明所有扰动下都鲁棒。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不宣称真实口味改善、食品安全、营养或临床效果；这些没有在本例中测量。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这是汇报教学总结，不将教学中的解析规则宣称为真实科研创新。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66800" y="700088"/>
            <a:ext cx="1428750" cy="28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95650" y="533400"/>
            <a:ext cx="25527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科研汇报教学示例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648450" y="700088"/>
            <a:ext cx="1428750" cy="28575"/>
          </a:xfrm>
          <a:prstGeom prst="rect">
            <a:avLst/>
          </a:prstGeom>
          <a:solidFill>
            <a:srgbClr val="003CAA"/>
          </a:solidFill>
          <a:ln/>
        </p:spPr>
      </p:sp>
      <p:pic>
        <p:nvPicPr>
          <p:cNvPr id="6" name="Image 0" descr="Rendered as an image because of CSS sv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443288" y="4538662"/>
            <a:ext cx="225742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配套可复现教学模型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514350" y="1428750"/>
            <a:ext cx="81153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面向口味一致性的西红柿炒鸡蛋</a:t>
            </a:r>
            <a:br/>
            <a:pPr algn="ctr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配比协同调节方法研究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3238500" y="2609850"/>
            <a:ext cx="2667000" cy="542925"/>
          </a:xfrm>
          <a:prstGeom prst="roundRect">
            <a:avLst>
              <a:gd name="adj" fmla="val 17544"/>
            </a:avLst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400425" y="2733675"/>
            <a:ext cx="2343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汇报人：番茄课题组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2105025" y="3419475"/>
            <a:ext cx="49339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研究对象：西红柿炒鸡蛋 主题：从问题到证据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31890" cy="5143500"/>
          </a:xfrm>
          <a:prstGeom prst="rect">
            <a:avLst/>
          </a:prstGeom>
          <a:solidFill>
            <a:srgbClr val="183A8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51458" y="1619250"/>
            <a:ext cx="2143125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 报 提 纲</a:t>
            </a:r>
            <a:endParaRPr lang="en-US" sz="3150" dirty="0"/>
          </a:p>
        </p:txBody>
      </p:sp>
      <p:pic>
        <p:nvPicPr>
          <p:cNvPr id="5" name="Image 0" descr="Rendered as an image because of CSS sv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1496" y="2428875"/>
            <a:ext cx="1428750" cy="10477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74790" y="68103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389090" y="7569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4874865" y="756940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en-US" sz="1725" dirty="0"/>
          </a:p>
        </p:txBody>
      </p:sp>
      <p:sp>
        <p:nvSpPr>
          <p:cNvPr id="9" name="Shape 6"/>
          <p:cNvSpPr/>
          <p:nvPr/>
        </p:nvSpPr>
        <p:spPr>
          <a:xfrm>
            <a:off x="4274790" y="1243013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090" y="13189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4874865" y="1318915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endParaRPr lang="en-US" sz="1725" dirty="0"/>
          </a:p>
        </p:txBody>
      </p:sp>
      <p:sp>
        <p:nvSpPr>
          <p:cNvPr id="12" name="Shape 9"/>
          <p:cNvSpPr/>
          <p:nvPr/>
        </p:nvSpPr>
        <p:spPr>
          <a:xfrm>
            <a:off x="4274790" y="180498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090" y="18808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4874865" y="188089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研究目标与技术路线</a:t>
            </a:r>
            <a:endParaRPr lang="en-US" sz="1725" dirty="0"/>
          </a:p>
        </p:txBody>
      </p:sp>
      <p:sp>
        <p:nvSpPr>
          <p:cNvPr id="15" name="Shape 12"/>
          <p:cNvSpPr/>
          <p:nvPr/>
        </p:nvSpPr>
        <p:spPr>
          <a:xfrm>
            <a:off x="4274790" y="2366963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89090" y="244286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874865" y="2442865"/>
            <a:ext cx="14287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主要研究工作</a:t>
            </a:r>
            <a:endParaRPr lang="en-US" sz="1725" dirty="0"/>
          </a:p>
        </p:txBody>
      </p:sp>
      <p:sp>
        <p:nvSpPr>
          <p:cNvPr id="18" name="Shape 15"/>
          <p:cNvSpPr/>
          <p:nvPr/>
        </p:nvSpPr>
        <p:spPr>
          <a:xfrm>
            <a:off x="4274790" y="292893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89090" y="30048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725" dirty="0"/>
          </a:p>
        </p:txBody>
      </p:sp>
      <p:sp>
        <p:nvSpPr>
          <p:cNvPr id="20" name="Text 17"/>
          <p:cNvSpPr txBox="1"/>
          <p:nvPr/>
        </p:nvSpPr>
        <p:spPr>
          <a:xfrm>
            <a:off x="4874865" y="300484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实验验证与结果分析</a:t>
            </a:r>
            <a:endParaRPr lang="en-US" sz="1725" dirty="0"/>
          </a:p>
        </p:txBody>
      </p:sp>
      <p:sp>
        <p:nvSpPr>
          <p:cNvPr id="21" name="Shape 18"/>
          <p:cNvSpPr/>
          <p:nvPr/>
        </p:nvSpPr>
        <p:spPr>
          <a:xfrm>
            <a:off x="4274790" y="3490912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389090" y="35668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4874865" y="3566815"/>
            <a:ext cx="18669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创新点与主要贡献</a:t>
            </a:r>
            <a:endParaRPr lang="en-US" sz="1725" dirty="0"/>
          </a:p>
        </p:txBody>
      </p:sp>
      <p:sp>
        <p:nvSpPr>
          <p:cNvPr id="24" name="Shape 21"/>
          <p:cNvSpPr/>
          <p:nvPr/>
        </p:nvSpPr>
        <p:spPr>
          <a:xfrm>
            <a:off x="4274790" y="4052887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090" y="41287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</a:t>
            </a:r>
            <a:endParaRPr lang="en-US" sz="1725" dirty="0"/>
          </a:p>
        </p:txBody>
      </p:sp>
      <p:sp>
        <p:nvSpPr>
          <p:cNvPr id="26" name="Text 23"/>
          <p:cNvSpPr txBox="1"/>
          <p:nvPr/>
        </p:nvSpPr>
        <p:spPr>
          <a:xfrm>
            <a:off x="4874865" y="4128790"/>
            <a:ext cx="1209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7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686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：配方相同，结果可能不同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3/22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266700" y="762000"/>
            <a:ext cx="158115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一个熟悉的问题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266700" y="1133475"/>
            <a:ext cx="411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同样照着配方做，为什么味道难以保持一致？</a:t>
            </a:r>
            <a:endParaRPr lang="en-US" sz="1575" dirty="0"/>
          </a:p>
        </p:txBody>
      </p:sp>
      <p:sp>
        <p:nvSpPr>
          <p:cNvPr id="10" name="Text 8"/>
          <p:cNvSpPr txBox="1"/>
          <p:nvPr/>
        </p:nvSpPr>
        <p:spPr>
          <a:xfrm>
            <a:off x="494288" y="14382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774204" y="1495425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原料状态可能变化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494288" y="17982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74204" y="1855440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固定用量难以对应所有批次</a:t>
            </a:r>
            <a:endParaRPr lang="en-US" sz="1575" dirty="0"/>
          </a:p>
        </p:txBody>
      </p:sp>
      <p:sp>
        <p:nvSpPr>
          <p:cNvPr id="14" name="Text 12"/>
          <p:cNvSpPr txBox="1"/>
          <p:nvPr/>
        </p:nvSpPr>
        <p:spPr>
          <a:xfrm>
            <a:off x="494288" y="21583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5" name="Text 13"/>
          <p:cNvSpPr txBox="1"/>
          <p:nvPr/>
        </p:nvSpPr>
        <p:spPr>
          <a:xfrm>
            <a:off x="774204" y="2215455"/>
            <a:ext cx="23241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“适量”缺少可复现的描述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266700" y="2594521"/>
            <a:ext cx="35147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研究目标：减少批次之间的响应偏差。</a:t>
            </a:r>
            <a:endParaRPr lang="en-US" sz="1575" dirty="0"/>
          </a:p>
        </p:txBody>
      </p:sp>
      <p:pic>
        <p:nvPicPr>
          <p:cNvPr id="17" name="Image 0" descr="原创番茄炒蛋示意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962025"/>
            <a:ext cx="4191000" cy="2095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686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：从一次成功走向稳定复现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4/22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266700" y="762000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工程意义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942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0" name="Text 8"/>
          <p:cNvSpPr txBox="1"/>
          <p:nvPr/>
        </p:nvSpPr>
        <p:spPr>
          <a:xfrm>
            <a:off x="774204" y="1190625"/>
            <a:ext cx="2724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将“适量”转成明确的输入规则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4942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774204" y="1550640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识别原料批次变化的影响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4942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4" name="Text 12"/>
          <p:cNvSpPr txBox="1"/>
          <p:nvPr/>
        </p:nvSpPr>
        <p:spPr>
          <a:xfrm>
            <a:off x="774204" y="191065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用一致指标比较不同方案</a:t>
            </a:r>
            <a:endParaRPr lang="en-US" sz="1575" dirty="0"/>
          </a:p>
        </p:txBody>
      </p:sp>
      <p:sp>
        <p:nvSpPr>
          <p:cNvPr id="15" name="Text 13"/>
          <p:cNvSpPr txBox="1"/>
          <p:nvPr/>
        </p:nvSpPr>
        <p:spPr>
          <a:xfrm>
            <a:off x="4686300" y="762000"/>
            <a:ext cx="13716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方法研究意义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9138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5193804" y="119062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区分目标变化与性能改善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49138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5193804" y="1550640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将经验配方转为可检验假设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49138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193804" y="1910655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用对照和消融解释作用机制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66700" y="2461171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66700" y="2613571"/>
            <a:ext cx="44958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本教学案例关注可复现研究设计与证据组织。</a:t>
            </a:r>
            <a:endParaRPr lang="en-US" sz="17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5435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：按方法能力组织研究脉络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1243013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6700" y="733425"/>
            <a:ext cx="209445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0" name="Shape 8"/>
          <p:cNvSpPr/>
          <p:nvPr/>
        </p:nvSpPr>
        <p:spPr>
          <a:xfrm>
            <a:off x="266700" y="1243013"/>
            <a:ext cx="209445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6205" y="876300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361158" y="733425"/>
            <a:ext cx="2676227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361158" y="1243013"/>
            <a:ext cx="2676227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65872" y="876300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改变了什么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37386" y="733425"/>
            <a:ext cx="3839914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037386" y="1243013"/>
            <a:ext cx="383991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9118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仍需回答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6700" y="1766887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6700" y="1766887"/>
            <a:ext cx="209445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0455" y="1400175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固定原配方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361158" y="1766887"/>
            <a:ext cx="2676227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070622" y="1400175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固定基础调味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037386" y="1766887"/>
            <a:ext cx="383991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57118" y="1400175"/>
            <a:ext cx="2400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原料变化时如何保持一致？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66700" y="2290762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6700" y="2290762"/>
            <a:ext cx="209445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0455" y="1924050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固定加辣椒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361158" y="2290762"/>
            <a:ext cx="2676227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80122" y="1924050"/>
            <a:ext cx="1638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增加一个风味维度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037386" y="2290762"/>
            <a:ext cx="383991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52368" y="1924050"/>
            <a:ext cx="2209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新目标是否真的需要它？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6700" y="2814638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6700" y="2814638"/>
            <a:ext cx="209445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85205" y="2447925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根据原料调节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361158" y="2814638"/>
            <a:ext cx="2676227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880122" y="2447925"/>
            <a:ext cx="1638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让用量随状态变化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037386" y="2814638"/>
            <a:ext cx="383991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757118" y="2447925"/>
            <a:ext cx="2400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误差来自哪里，如何验证？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266700" y="2847975"/>
            <a:ext cx="52959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教学示例：真实论文中应在这里概括国内外代表工作、比较依据与研究不足。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6700" y="3228975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66700" y="3381375"/>
            <a:ext cx="44958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配料变化需要与目标、方法和证据建立联系。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686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现有不足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：从方案比较凝练研究问题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733425"/>
            <a:ext cx="8610600" cy="528638"/>
          </a:xfrm>
          <a:prstGeom prst="rect">
            <a:avLst/>
          </a:prstGeom>
          <a:noFill/>
          <a:ln w="9525">
            <a:solidFill>
              <a:srgbClr val="003CAA"/>
            </a:solidFill>
            <a:prstDash val="solid"/>
          </a:ln>
          <a:effectLst>
            <a:outerShdw sx="100000" sy="100000" kx="0" ky="0" algn="bl" rotWithShape="0" blurRad="19050" dist="34385" dir="3360000">
              <a:srgbClr val="B1BDD3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185988" y="857250"/>
            <a:ext cx="477202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从“是否新增配料”转向“能否稳定达到目标”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266700" y="1943100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66700" y="1433513"/>
            <a:ext cx="3833812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66700" y="1943100"/>
            <a:ext cx="383381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59706" y="1576388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现有方案的局限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00513" y="1433513"/>
            <a:ext cx="477678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0513" y="1943100"/>
            <a:ext cx="47767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65006" y="1576388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需要研究的问题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66700" y="2466975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66700" y="2466975"/>
            <a:ext cx="383381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3956" y="2100263"/>
            <a:ext cx="2019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固定配方忽略批次变化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100513" y="2466975"/>
            <a:ext cx="47767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93506" y="2100263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如何建立扰动与响应的关系？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6700" y="2990850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6700" y="2990850"/>
            <a:ext cx="383381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78706" y="2624138"/>
            <a:ext cx="2209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新增配料改变了目标维度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100513" y="2990850"/>
            <a:ext cx="47767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93506" y="2624138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如何在相同目标下公平比较？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66700" y="3514725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66700" y="3514725"/>
            <a:ext cx="383381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459706" y="3148012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只展示综合结果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00513" y="3514725"/>
            <a:ext cx="47767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98256" y="3148012"/>
            <a:ext cx="2781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如何辨认每个调节环节的作用？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266700" y="3548062"/>
            <a:ext cx="57531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方法归类用于演示研究现状的讲法，不代表已完成真实食品文献的国内外系统综述。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829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研究目标与内容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：以响应一致性串联研究任务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1243013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6700" y="733425"/>
            <a:ext cx="2950815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0" name="Shape 8"/>
          <p:cNvSpPr/>
          <p:nvPr/>
        </p:nvSpPr>
        <p:spPr>
          <a:xfrm>
            <a:off x="266700" y="1243013"/>
            <a:ext cx="2950815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03883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17515" y="733425"/>
            <a:ext cx="3192661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17515" y="1243013"/>
            <a:ext cx="319266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75696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10176" y="733425"/>
            <a:ext cx="2467124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0176" y="1243013"/>
            <a:ext cx="246712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05514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对应证据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6700" y="1766887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6700" y="1766887"/>
            <a:ext cx="2950815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633" y="1400175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明确批次偏差的来源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7515" y="1766887"/>
            <a:ext cx="319266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13696" y="1400175"/>
            <a:ext cx="2400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构建扰动—用量—响应模型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10176" y="1766887"/>
            <a:ext cx="246712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29264" y="1400175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解析关系与条件说明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66700" y="2290762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6700" y="2290762"/>
            <a:ext cx="2950815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133" y="1924050"/>
            <a:ext cx="2209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减少指定目标的响应误差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217515" y="2290762"/>
            <a:ext cx="319266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08946" y="1924050"/>
            <a:ext cx="2209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设计双通道配比调节规则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10176" y="2290762"/>
            <a:ext cx="246712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19764" y="1924050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同批次对照实验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6700" y="2814638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6700" y="2814638"/>
            <a:ext cx="2950815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2383" y="2447925"/>
            <a:ext cx="2019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解释方法各环节的作用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217515" y="2814638"/>
            <a:ext cx="319266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99446" y="2447925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开展消融与扰动分析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10176" y="2814638"/>
            <a:ext cx="246712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24514" y="2447925"/>
            <a:ext cx="1638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逐项去除调节机制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66700" y="3000375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66700" y="3152775"/>
            <a:ext cx="53721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总体目标：在已定义的教学模型内，提高响应一致性。</a:t>
            </a:r>
            <a:endParaRPr lang="en-US" sz="17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067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问题定义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：先把“好吃”改成可检验目标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733425"/>
            <a:ext cx="8610600" cy="528638"/>
          </a:xfrm>
          <a:prstGeom prst="rect">
            <a:avLst/>
          </a:prstGeom>
          <a:noFill/>
          <a:ln w="9525">
            <a:solidFill>
              <a:srgbClr val="003CAA"/>
            </a:solidFill>
            <a:prstDash val="solid"/>
          </a:ln>
          <a:effectLst>
            <a:outerShdw sx="100000" sy="100000" kx="0" ky="0" algn="bl" rotWithShape="0" blurRad="19050" dist="34385" dir="3360000">
              <a:srgbClr val="B1BDD3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981200" y="857250"/>
            <a:ext cx="51816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本例研究“接近指定响应”，不评价谁觉得更好吃</a:t>
            </a:r>
            <a:endParaRPr lang="en-US" sz="1875" dirty="0"/>
          </a:p>
        </p:txBody>
      </p:sp>
      <p:sp>
        <p:nvSpPr>
          <p:cNvPr id="10" name="Text 8"/>
          <p:cNvSpPr txBox="1"/>
          <p:nvPr/>
        </p:nvSpPr>
        <p:spPr>
          <a:xfrm>
            <a:off x="266700" y="1462088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教学变量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94288" y="1833562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pic>
        <p:nvPicPr>
          <p:cNvPr id="12" name="Image 0" descr="Rendered as an image because of CSS m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204" y="1852612"/>
            <a:ext cx="209550" cy="28575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83754" y="1890712"/>
            <a:ext cx="1514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：原料扰动因子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494288" y="2193578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pic>
        <p:nvPicPr>
          <p:cNvPr id="15" name="Image 1" descr="Rendered as an image because of CSS ma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04" y="2212628"/>
            <a:ext cx="240655" cy="28575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14859" y="2250728"/>
            <a:ext cx="1514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：基础调味用量</a:t>
            </a:r>
            <a:endParaRPr lang="en-US" sz="1575" dirty="0"/>
          </a:p>
        </p:txBody>
      </p:sp>
      <p:sp>
        <p:nvSpPr>
          <p:cNvPr id="17" name="Text 13"/>
          <p:cNvSpPr txBox="1"/>
          <p:nvPr/>
        </p:nvSpPr>
        <p:spPr>
          <a:xfrm>
            <a:off x="494288" y="2553593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pic>
        <p:nvPicPr>
          <p:cNvPr id="18" name="Image 2" descr="Rendered as an image because of CSS ma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04" y="2572643"/>
            <a:ext cx="240655" cy="28575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14859" y="2610743"/>
            <a:ext cx="1514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：辣椒调味用量</a:t>
            </a:r>
            <a:endParaRPr lang="en-US" sz="1575" dirty="0"/>
          </a:p>
        </p:txBody>
      </p:sp>
      <p:sp>
        <p:nvSpPr>
          <p:cNvPr id="20" name="Text 15"/>
          <p:cNvSpPr txBox="1"/>
          <p:nvPr/>
        </p:nvSpPr>
        <p:spPr>
          <a:xfrm>
            <a:off x="494288" y="2913608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pic>
        <p:nvPicPr>
          <p:cNvPr id="21" name="Image 3" descr="Rendered as an image because of CSS mat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04" y="2932658"/>
            <a:ext cx="531168" cy="28575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05371" y="2970758"/>
            <a:ext cx="13144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：归一化响应</a:t>
            </a:r>
            <a:endParaRPr lang="en-US" sz="1575" dirty="0"/>
          </a:p>
        </p:txBody>
      </p:sp>
      <p:sp>
        <p:nvSpPr>
          <p:cNvPr id="23" name="Text 17"/>
          <p:cNvSpPr txBox="1"/>
          <p:nvPr/>
        </p:nvSpPr>
        <p:spPr>
          <a:xfrm>
            <a:off x="4686300" y="1462088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固定目标</a:t>
            </a:r>
            <a:endParaRPr lang="en-US" sz="1650" dirty="0"/>
          </a:p>
        </p:txBody>
      </p:sp>
      <p:pic>
        <p:nvPicPr>
          <p:cNvPr id="24" name="Image 4" descr="Rendered as an image because of CSS ma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1928813"/>
            <a:ext cx="4191000" cy="338435"/>
          </a:xfrm>
          <a:prstGeom prst="rect">
            <a:avLst/>
          </a:prstGeom>
        </p:spPr>
      </p:pic>
      <p:pic>
        <p:nvPicPr>
          <p:cNvPr id="25" name="Image 5" descr="Rendered as an image because of CSS mat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300" y="2457748"/>
            <a:ext cx="4191000" cy="338435"/>
          </a:xfrm>
          <a:prstGeom prst="rect">
            <a:avLst/>
          </a:prstGeom>
        </p:spPr>
      </p:pic>
      <p:pic>
        <p:nvPicPr>
          <p:cNvPr id="26" name="Image 6" descr="Rendered as an image because of CSS mat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3100" y="2986683"/>
            <a:ext cx="114300" cy="28575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686300" y="3024783"/>
            <a:ext cx="2895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目标是减少 </a:t>
            </a:r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，不是追求更辣。</a:t>
            </a:r>
            <a:endParaRPr lang="en-US" sz="1575" dirty="0"/>
          </a:p>
        </p:txBody>
      </p:sp>
      <p:sp>
        <p:nvSpPr>
          <p:cNvPr id="28" name="Text 19"/>
          <p:cNvSpPr txBox="1"/>
          <p:nvPr/>
        </p:nvSpPr>
        <p:spPr>
          <a:xfrm>
            <a:off x="266700" y="3391346"/>
            <a:ext cx="48387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所有变量与目标均为人为定义的教学量，无物理单位和真实口感标定。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829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总体技术路线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：将配方改成随原料变化的规则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524875" y="247650"/>
            <a:ext cx="61912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9/22</a:t>
            </a:r>
            <a:endParaRPr lang="en-US" sz="1650" dirty="0"/>
          </a:p>
        </p:txBody>
      </p:sp>
      <p:pic>
        <p:nvPicPr>
          <p:cNvPr id="8" name="Image 0" descr="观察、计算、执行与评价流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" y="971550"/>
            <a:ext cx="8610600" cy="25201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66700" y="3663107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66700" y="3767882"/>
            <a:ext cx="55911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核心假设：若响应随原料因子缩放，用量也应随之调节。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266700" y="4025057"/>
            <a:ext cx="48387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烹饪流程为类比场景；本次计算未模拟温度、时间、营养或食品安全。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31890" cy="5143500"/>
          </a:xfrm>
          <a:prstGeom prst="rect">
            <a:avLst/>
          </a:prstGeom>
          <a:solidFill>
            <a:srgbClr val="183A8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51458" y="1619250"/>
            <a:ext cx="2143125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 报 提 纲</a:t>
            </a:r>
            <a:endParaRPr lang="en-US" sz="3150" dirty="0"/>
          </a:p>
        </p:txBody>
      </p:sp>
      <p:pic>
        <p:nvPicPr>
          <p:cNvPr id="5" name="Image 0" descr="Rendered as an image because of CSS sv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1496" y="2428875"/>
            <a:ext cx="1428750" cy="10477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74790" y="68103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389090" y="7569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4874865" y="756940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en-US" sz="1725" dirty="0"/>
          </a:p>
        </p:txBody>
      </p:sp>
      <p:sp>
        <p:nvSpPr>
          <p:cNvPr id="9" name="Shape 6"/>
          <p:cNvSpPr/>
          <p:nvPr/>
        </p:nvSpPr>
        <p:spPr>
          <a:xfrm>
            <a:off x="4274790" y="1243013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090" y="13189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4874865" y="1318915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endParaRPr lang="en-US" sz="1725" dirty="0"/>
          </a:p>
        </p:txBody>
      </p:sp>
      <p:sp>
        <p:nvSpPr>
          <p:cNvPr id="12" name="Shape 9"/>
          <p:cNvSpPr/>
          <p:nvPr/>
        </p:nvSpPr>
        <p:spPr>
          <a:xfrm>
            <a:off x="4274790" y="180498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090" y="18808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4874865" y="188089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研究目标与技术路线</a:t>
            </a:r>
            <a:endParaRPr lang="en-US" sz="1725" dirty="0"/>
          </a:p>
        </p:txBody>
      </p:sp>
      <p:sp>
        <p:nvSpPr>
          <p:cNvPr id="15" name="Shape 12"/>
          <p:cNvSpPr/>
          <p:nvPr/>
        </p:nvSpPr>
        <p:spPr>
          <a:xfrm>
            <a:off x="4274790" y="2366963"/>
            <a:ext cx="447675" cy="409575"/>
          </a:xfrm>
          <a:prstGeom prst="rect">
            <a:avLst/>
          </a:prstGeom>
          <a:solidFill>
            <a:srgbClr val="C800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89090" y="244286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874865" y="2442865"/>
            <a:ext cx="14287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主要研究工作</a:t>
            </a:r>
            <a:endParaRPr lang="en-US" sz="1725" dirty="0"/>
          </a:p>
        </p:txBody>
      </p:sp>
      <p:sp>
        <p:nvSpPr>
          <p:cNvPr id="18" name="Shape 15"/>
          <p:cNvSpPr/>
          <p:nvPr/>
        </p:nvSpPr>
        <p:spPr>
          <a:xfrm>
            <a:off x="4274790" y="292893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89090" y="30048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725" dirty="0"/>
          </a:p>
        </p:txBody>
      </p:sp>
      <p:sp>
        <p:nvSpPr>
          <p:cNvPr id="20" name="Text 17"/>
          <p:cNvSpPr txBox="1"/>
          <p:nvPr/>
        </p:nvSpPr>
        <p:spPr>
          <a:xfrm>
            <a:off x="4874865" y="300484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实验验证与结果分析</a:t>
            </a:r>
            <a:endParaRPr lang="en-US" sz="1725" dirty="0"/>
          </a:p>
        </p:txBody>
      </p:sp>
      <p:sp>
        <p:nvSpPr>
          <p:cNvPr id="21" name="Shape 18"/>
          <p:cNvSpPr/>
          <p:nvPr/>
        </p:nvSpPr>
        <p:spPr>
          <a:xfrm>
            <a:off x="4274790" y="3490912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389090" y="35668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4874865" y="3566815"/>
            <a:ext cx="18669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创新点与主要贡献</a:t>
            </a:r>
            <a:endParaRPr lang="en-US" sz="1725" dirty="0"/>
          </a:p>
        </p:txBody>
      </p:sp>
      <p:sp>
        <p:nvSpPr>
          <p:cNvPr id="24" name="Shape 21"/>
          <p:cNvSpPr/>
          <p:nvPr/>
        </p:nvSpPr>
        <p:spPr>
          <a:xfrm>
            <a:off x="4274790" y="4052887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090" y="41287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</a:t>
            </a:r>
            <a:endParaRPr lang="en-US" sz="1725" dirty="0"/>
          </a:p>
        </p:txBody>
      </p:sp>
      <p:sp>
        <p:nvSpPr>
          <p:cNvPr id="26" name="Text 23"/>
          <p:cNvSpPr txBox="1"/>
          <p:nvPr/>
        </p:nvSpPr>
        <p:spPr>
          <a:xfrm>
            <a:off x="4874865" y="4128790"/>
            <a:ext cx="1209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686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研究工作一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：扰动与响应的模型描述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733425"/>
            <a:ext cx="8610600" cy="528638"/>
          </a:xfrm>
          <a:prstGeom prst="rect">
            <a:avLst/>
          </a:prstGeom>
          <a:noFill/>
          <a:ln w="9525">
            <a:solidFill>
              <a:srgbClr val="003CAA"/>
            </a:solidFill>
            <a:prstDash val="solid"/>
          </a:ln>
          <a:effectLst>
            <a:outerShdw sx="100000" sy="100000" kx="0" ky="0" algn="bl" rotWithShape="0" blurRad="19050" dist="34385" dir="3360000">
              <a:srgbClr val="B1BDD3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371725" y="857250"/>
            <a:ext cx="4400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设定一个可计算、可重复的合成响应关系</a:t>
            </a:r>
            <a:endParaRPr lang="en-US" sz="1875" dirty="0"/>
          </a:p>
        </p:txBody>
      </p:sp>
      <p:pic>
        <p:nvPicPr>
          <p:cNvPr id="10" name="Image 0" descr="Rendered as an image because of CSS m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" y="1452562"/>
            <a:ext cx="8610600" cy="47744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66700" y="2149078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固定配方</a:t>
            </a:r>
            <a:endParaRPr lang="en-US" sz="1650" dirty="0"/>
          </a:p>
        </p:txBody>
      </p:sp>
      <p:pic>
        <p:nvPicPr>
          <p:cNvPr id="12" name="Image 1" descr="Rendered as an image because of CSS ma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520553"/>
            <a:ext cx="588318" cy="285750"/>
          </a:xfrm>
          <a:prstGeom prst="rect">
            <a:avLst/>
          </a:prstGeom>
        </p:spPr>
      </p:pic>
      <p:pic>
        <p:nvPicPr>
          <p:cNvPr id="13" name="Image 2" descr="Rendered as an image because of CSS ma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1818" y="2520553"/>
            <a:ext cx="209550" cy="28575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5018" y="2558653"/>
            <a:ext cx="365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保持不变，</a:t>
            </a:r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改变时，响应随之变化。</a:t>
            </a:r>
            <a:endParaRPr lang="en-US" sz="1575" dirty="0"/>
          </a:p>
        </p:txBody>
      </p:sp>
      <p:sp>
        <p:nvSpPr>
          <p:cNvPr id="15" name="Text 10"/>
          <p:cNvSpPr txBox="1"/>
          <p:nvPr/>
        </p:nvSpPr>
        <p:spPr>
          <a:xfrm>
            <a:off x="4686300" y="2149078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问题转化</a:t>
            </a:r>
            <a:endParaRPr lang="en-US" sz="1650" dirty="0"/>
          </a:p>
        </p:txBody>
      </p:sp>
      <p:pic>
        <p:nvPicPr>
          <p:cNvPr id="16" name="Image 3" descr="Rendered as an image because of CSS mat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520553"/>
            <a:ext cx="209550" cy="2857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86300" y="2558653"/>
            <a:ext cx="4210050" cy="48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6"/>
              </a:lnSpc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根据估计值 </a:t>
            </a:r>
            <a:pPr algn="l" indent="0" marL="0">
              <a:lnSpc>
                <a:spcPts val="1986"/>
              </a:lnSpc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调整用量，使响应接近给定目标。</a:t>
            </a:r>
            <a:endParaRPr lang="en-US" sz="1575" dirty="0"/>
          </a:p>
        </p:txBody>
      </p:sp>
      <p:sp>
        <p:nvSpPr>
          <p:cNvPr id="18" name="Text 12"/>
          <p:cNvSpPr txBox="1"/>
          <p:nvPr/>
        </p:nvSpPr>
        <p:spPr>
          <a:xfrm>
            <a:off x="266700" y="3134767"/>
            <a:ext cx="46863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这是为解释方法逻辑而构造的模型，不是经过食品实验识别的规律。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4005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研究工作二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：双通道配比调节方法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733425"/>
            <a:ext cx="8610600" cy="528638"/>
          </a:xfrm>
          <a:prstGeom prst="rect">
            <a:avLst/>
          </a:prstGeom>
          <a:noFill/>
          <a:ln w="9525">
            <a:solidFill>
              <a:srgbClr val="003CAA"/>
            </a:solidFill>
            <a:prstDash val="solid"/>
          </a:ln>
          <a:effectLst>
            <a:outerShdw sx="100000" sy="100000" kx="0" ky="0" algn="bl" rotWithShape="0" blurRad="19050" dist="34385" dir="3360000">
              <a:srgbClr val="B1BDD3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28913" y="857250"/>
            <a:ext cx="368617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用估计原料因子缩放两种调味用量</a:t>
            </a:r>
            <a:endParaRPr lang="en-US" sz="1875" dirty="0"/>
          </a:p>
        </p:txBody>
      </p:sp>
      <p:pic>
        <p:nvPicPr>
          <p:cNvPr id="10" name="Image 0" descr="Rendered as an image because of CSS m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" y="1452562"/>
            <a:ext cx="8610600" cy="33843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66700" y="2010073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机制解释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266700" y="2381548"/>
            <a:ext cx="3714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估计准确时，两个响应均回到指定目标。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4686300" y="2010073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误差来源</a:t>
            </a:r>
            <a:endParaRPr lang="en-US" sz="1650" dirty="0"/>
          </a:p>
        </p:txBody>
      </p:sp>
      <p:pic>
        <p:nvPicPr>
          <p:cNvPr id="14" name="Image 1" descr="Rendered as an image because of CSS ma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476798"/>
            <a:ext cx="4191000" cy="63891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86300" y="3306217"/>
            <a:ext cx="35147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性能取决于估计误差和模型是否适用。</a:t>
            </a:r>
            <a:endParaRPr lang="en-US" sz="15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31890" cy="5143500"/>
          </a:xfrm>
          <a:prstGeom prst="rect">
            <a:avLst/>
          </a:prstGeom>
          <a:solidFill>
            <a:srgbClr val="183A8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51458" y="1619250"/>
            <a:ext cx="2143125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 报 提 纲</a:t>
            </a:r>
            <a:endParaRPr lang="en-US" sz="3150" dirty="0"/>
          </a:p>
        </p:txBody>
      </p:sp>
      <p:pic>
        <p:nvPicPr>
          <p:cNvPr id="5" name="Image 0" descr="Rendered as an image because of CSS sv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1496" y="2428875"/>
            <a:ext cx="1428750" cy="10477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74790" y="68103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389090" y="7569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4874865" y="756940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en-US" sz="1725" dirty="0"/>
          </a:p>
        </p:txBody>
      </p:sp>
      <p:sp>
        <p:nvSpPr>
          <p:cNvPr id="9" name="Shape 6"/>
          <p:cNvSpPr/>
          <p:nvPr/>
        </p:nvSpPr>
        <p:spPr>
          <a:xfrm>
            <a:off x="4274790" y="1243013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090" y="13189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4874865" y="1318915"/>
            <a:ext cx="16478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endParaRPr lang="en-US" sz="1725" dirty="0"/>
          </a:p>
        </p:txBody>
      </p:sp>
      <p:sp>
        <p:nvSpPr>
          <p:cNvPr id="12" name="Shape 9"/>
          <p:cNvSpPr/>
          <p:nvPr/>
        </p:nvSpPr>
        <p:spPr>
          <a:xfrm>
            <a:off x="4274790" y="1804988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090" y="18808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4874865" y="188089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研究目标与技术路线</a:t>
            </a:r>
            <a:endParaRPr lang="en-US" sz="1725" dirty="0"/>
          </a:p>
        </p:txBody>
      </p:sp>
      <p:sp>
        <p:nvSpPr>
          <p:cNvPr id="15" name="Shape 12"/>
          <p:cNvSpPr/>
          <p:nvPr/>
        </p:nvSpPr>
        <p:spPr>
          <a:xfrm>
            <a:off x="4274790" y="2366963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89090" y="244286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874865" y="2442865"/>
            <a:ext cx="14287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主要研究工作</a:t>
            </a:r>
            <a:endParaRPr lang="en-US" sz="1725" dirty="0"/>
          </a:p>
        </p:txBody>
      </p:sp>
      <p:sp>
        <p:nvSpPr>
          <p:cNvPr id="18" name="Shape 15"/>
          <p:cNvSpPr/>
          <p:nvPr/>
        </p:nvSpPr>
        <p:spPr>
          <a:xfrm>
            <a:off x="4274790" y="2928938"/>
            <a:ext cx="447675" cy="409575"/>
          </a:xfrm>
          <a:prstGeom prst="rect">
            <a:avLst/>
          </a:prstGeom>
          <a:solidFill>
            <a:srgbClr val="C800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89090" y="300484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725" dirty="0"/>
          </a:p>
        </p:txBody>
      </p:sp>
      <p:sp>
        <p:nvSpPr>
          <p:cNvPr id="20" name="Text 17"/>
          <p:cNvSpPr txBox="1"/>
          <p:nvPr/>
        </p:nvSpPr>
        <p:spPr>
          <a:xfrm>
            <a:off x="4874865" y="3004840"/>
            <a:ext cx="20859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实验验证与结果分析</a:t>
            </a:r>
            <a:endParaRPr lang="en-US" sz="1725" dirty="0"/>
          </a:p>
        </p:txBody>
      </p:sp>
      <p:sp>
        <p:nvSpPr>
          <p:cNvPr id="21" name="Shape 18"/>
          <p:cNvSpPr/>
          <p:nvPr/>
        </p:nvSpPr>
        <p:spPr>
          <a:xfrm>
            <a:off x="4274790" y="3490912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389090" y="3566815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4874865" y="3566815"/>
            <a:ext cx="18669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创新点与主要贡献</a:t>
            </a:r>
            <a:endParaRPr lang="en-US" sz="1725" dirty="0"/>
          </a:p>
        </p:txBody>
      </p:sp>
      <p:sp>
        <p:nvSpPr>
          <p:cNvPr id="24" name="Shape 21"/>
          <p:cNvSpPr/>
          <p:nvPr/>
        </p:nvSpPr>
        <p:spPr>
          <a:xfrm>
            <a:off x="4274790" y="4052887"/>
            <a:ext cx="447675" cy="409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090" y="4128790"/>
            <a:ext cx="3333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</a:t>
            </a:r>
            <a:endParaRPr lang="en-US" sz="1725" dirty="0"/>
          </a:p>
        </p:txBody>
      </p:sp>
      <p:sp>
        <p:nvSpPr>
          <p:cNvPr id="26" name="Text 23"/>
          <p:cNvSpPr txBox="1"/>
          <p:nvPr/>
        </p:nvSpPr>
        <p:spPr>
          <a:xfrm>
            <a:off x="4874865" y="4128790"/>
            <a:ext cx="1209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9720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：所有方案使用相同测试批次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14/22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266700" y="762000"/>
            <a:ext cx="116205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可复现设置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942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0" name="Text 8"/>
          <p:cNvSpPr txBox="1"/>
          <p:nvPr/>
        </p:nvSpPr>
        <p:spPr>
          <a:xfrm>
            <a:off x="774204" y="1190625"/>
            <a:ext cx="1552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个合成批次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4942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774204" y="1550640"/>
            <a:ext cx="21050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随机种子：20261019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4942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4" name="Text 12"/>
          <p:cNvSpPr txBox="1"/>
          <p:nvPr/>
        </p:nvSpPr>
        <p:spPr>
          <a:xfrm>
            <a:off x="774204" y="1910655"/>
            <a:ext cx="31432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原料因子：均匀分布 [0.65, 1.35]</a:t>
            </a:r>
            <a:endParaRPr lang="en-US" sz="1575" dirty="0"/>
          </a:p>
        </p:txBody>
      </p:sp>
      <p:sp>
        <p:nvSpPr>
          <p:cNvPr id="15" name="Text 13"/>
          <p:cNvSpPr txBox="1"/>
          <p:nvPr/>
        </p:nvSpPr>
        <p:spPr>
          <a:xfrm>
            <a:off x="494288" y="2213521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774204" y="2270671"/>
            <a:ext cx="21526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估计噪声标准差：0.03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686300" y="762000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公平比较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686300" y="1133475"/>
            <a:ext cx="4210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固定目标、模型与原料批次，仅改变配比规则。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4686300" y="1666875"/>
            <a:ext cx="342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评价：RMSE 与误差第 95 百分位。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4686300" y="1971675"/>
            <a:ext cx="29146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按批次保留数据，可逐条检查。</a:t>
            </a:r>
            <a:endParaRPr lang="en-US" sz="1575" dirty="0"/>
          </a:p>
        </p:txBody>
      </p:sp>
      <p:sp>
        <p:nvSpPr>
          <p:cNvPr id="21" name="Shape 19"/>
          <p:cNvSpPr/>
          <p:nvPr/>
        </p:nvSpPr>
        <p:spPr>
          <a:xfrm>
            <a:off x="266700" y="2821186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6700" y="2973586"/>
            <a:ext cx="49339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这一实验验证模型内的机制，不等同于试吃实验。</a:t>
            </a:r>
            <a:endParaRPr lang="en-US" sz="17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5435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对比实验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：协同调节减少教学模型中的偏差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15/22</a:t>
            </a:r>
            <a:endParaRPr lang="en-US" sz="1650" dirty="0"/>
          </a:p>
        </p:txBody>
      </p:sp>
      <p:pic>
        <p:nvPicPr>
          <p:cNvPr id="8" name="Image 0" descr="测试误差对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" y="923925"/>
            <a:ext cx="4191000" cy="193000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86300" y="1243013"/>
            <a:ext cx="41910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686300" y="733425"/>
            <a:ext cx="206394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1" name="Shape 8"/>
          <p:cNvSpPr/>
          <p:nvPr/>
        </p:nvSpPr>
        <p:spPr>
          <a:xfrm>
            <a:off x="4686300" y="1243013"/>
            <a:ext cx="20639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70624" y="876300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750248" y="733425"/>
            <a:ext cx="1094929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4" name="Shape 11"/>
          <p:cNvSpPr/>
          <p:nvPr/>
        </p:nvSpPr>
        <p:spPr>
          <a:xfrm>
            <a:off x="6750248" y="1243013"/>
            <a:ext cx="1094929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40451" y="876300"/>
            <a:ext cx="7143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RMSE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45177" y="733425"/>
            <a:ext cx="1032123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7" name="Shape 14"/>
          <p:cNvSpPr/>
          <p:nvPr/>
        </p:nvSpPr>
        <p:spPr>
          <a:xfrm>
            <a:off x="7845177" y="1243013"/>
            <a:ext cx="103212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9227" y="876300"/>
            <a:ext cx="5238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686300" y="1766887"/>
            <a:ext cx="41910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4686300" y="1766887"/>
            <a:ext cx="20639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184874" y="1400175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固定原配方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750248" y="1766887"/>
            <a:ext cx="1094929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64263" y="1400175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0.345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845177" y="1766887"/>
            <a:ext cx="103212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27789" y="1400175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0.468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686300" y="2290762"/>
            <a:ext cx="41910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4686300" y="2290762"/>
            <a:ext cx="20639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84874" y="1924050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固定加辣椒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750248" y="2290762"/>
            <a:ext cx="1094929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964263" y="1924050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0.181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7845177" y="2290762"/>
            <a:ext cx="103212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27789" y="1924050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0.383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4686300" y="2814638"/>
            <a:ext cx="41910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686300" y="2814638"/>
            <a:ext cx="20639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994374" y="2447925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仅调整基础调味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6750248" y="2814638"/>
            <a:ext cx="1094929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964263" y="2447925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0.069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7845177" y="2814638"/>
            <a:ext cx="103212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027789" y="2447925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0.138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4686300" y="3338513"/>
            <a:ext cx="41910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686300" y="3338513"/>
            <a:ext cx="20639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089624" y="2971800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配比协同调节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750248" y="3338513"/>
            <a:ext cx="1094929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964263" y="2971800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0.027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7845177" y="3338513"/>
            <a:ext cx="103212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027789" y="2971800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0.054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266700" y="3524250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66700" y="3676650"/>
            <a:ext cx="49339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在所设模型与噪声下，协同调节更接近指定响应。</a:t>
            </a:r>
            <a:endParaRPr lang="en-US" sz="1725" dirty="0"/>
          </a:p>
        </p:txBody>
      </p:sp>
      <p:sp>
        <p:nvSpPr>
          <p:cNvPr id="49" name="Text 46"/>
          <p:cNvSpPr txBox="1"/>
          <p:nvPr/>
        </p:nvSpPr>
        <p:spPr>
          <a:xfrm>
            <a:off x="266700" y="3986213"/>
            <a:ext cx="454342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数据来自附带 Python 程序的实际运行；不能据此声称菜更好吃。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829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：只调一个通道会保留另一通道误差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733425"/>
            <a:ext cx="8610600" cy="528638"/>
          </a:xfrm>
          <a:prstGeom prst="rect">
            <a:avLst/>
          </a:prstGeom>
          <a:noFill/>
          <a:ln w="9525">
            <a:solidFill>
              <a:srgbClr val="003CAA"/>
            </a:solidFill>
            <a:prstDash val="solid"/>
          </a:ln>
          <a:effectLst>
            <a:outerShdw sx="100000" sy="100000" kx="0" ky="0" algn="bl" rotWithShape="0" blurRad="19050" dist="34385" dir="3360000">
              <a:srgbClr val="B1BDD3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776413" y="857250"/>
            <a:ext cx="559117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消融问题：改善来自新增通道，还是来自状态调节？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266700" y="1943100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66700" y="1433513"/>
            <a:ext cx="2619821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66700" y="1943100"/>
            <a:ext cx="261982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28886" y="1576388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86521" y="1433513"/>
            <a:ext cx="230028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5" name="Shape 13"/>
          <p:cNvSpPr/>
          <p:nvPr/>
        </p:nvSpPr>
        <p:spPr>
          <a:xfrm>
            <a:off x="2886521" y="1943100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8015" y="1576388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基础通道调节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186809" y="1433513"/>
            <a:ext cx="230028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186809" y="1943100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08303" y="1576388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辣椒通道调节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487096" y="1433513"/>
            <a:ext cx="1390204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487096" y="1943100"/>
            <a:ext cx="139020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24936" y="1576388"/>
            <a:ext cx="7143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RMSE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6700" y="2466975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66700" y="2466975"/>
            <a:ext cx="261982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43136" y="2100263"/>
            <a:ext cx="1066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固定加辣椒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886521" y="2466975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84265" y="2100263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186809" y="2466975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84553" y="2100263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487096" y="2466975"/>
            <a:ext cx="139020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48749" y="2100263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0.181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6700" y="2990850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6700" y="2990850"/>
            <a:ext cx="261982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2636" y="2624138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仅调整基础调味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886521" y="2990850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84265" y="2624138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186809" y="2990850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84553" y="2624138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487096" y="2990850"/>
            <a:ext cx="139020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848749" y="2624138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0.069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66700" y="3514725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66700" y="3514725"/>
            <a:ext cx="261982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47886" y="3148012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配比协同调节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886521" y="3514725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84265" y="3148012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186809" y="3514725"/>
            <a:ext cx="230028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184553" y="3148012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7487096" y="3514725"/>
            <a:ext cx="1390204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848749" y="3148012"/>
            <a:ext cx="666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0.027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266700" y="3700463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66700" y="3852862"/>
            <a:ext cx="427672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逐项移除机制，有助于解释各环节的作用。</a:t>
            </a:r>
            <a:endParaRPr lang="en-US" sz="17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5435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扰动分析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：固定用量对偏离名义状态更敏感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17/22</a:t>
            </a:r>
            <a:endParaRPr lang="en-US" sz="1650" dirty="0"/>
          </a:p>
        </p:txBody>
      </p:sp>
      <p:pic>
        <p:nvPicPr>
          <p:cNvPr id="8" name="Image 0" descr="原料因子与响应误差散点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700" y="809625"/>
            <a:ext cx="8610600" cy="300037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66700" y="3829050"/>
            <a:ext cx="57531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教学仿真；点为同一测试批次。此图没有评估真实食品、不同锅具或其他响应规律。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61150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创新点与主要贡献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：问题、方法和证据逐项对应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1243013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6700" y="733425"/>
            <a:ext cx="1845022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0" name="Shape 8"/>
          <p:cNvSpPr/>
          <p:nvPr/>
        </p:nvSpPr>
        <p:spPr>
          <a:xfrm>
            <a:off x="266700" y="1243013"/>
            <a:ext cx="184502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0487" y="876300"/>
            <a:ext cx="1257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贡献组织方式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11722" y="733425"/>
            <a:ext cx="3895130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111722" y="1243013"/>
            <a:ext cx="3895130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21137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本例内容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06852" y="733425"/>
            <a:ext cx="2870448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006852" y="1243013"/>
            <a:ext cx="28704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03852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支撑依据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6700" y="1766887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6700" y="1766887"/>
            <a:ext cx="184502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0987" y="1400175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问题表述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111722" y="1766887"/>
            <a:ext cx="3895130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68637" y="1400175"/>
            <a:ext cx="2781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将“好吃”转为给定响应的一致性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06852" y="1766887"/>
            <a:ext cx="28704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18102" y="1400175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目标与指标定义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66700" y="2290762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6700" y="2290762"/>
            <a:ext cx="184502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50987" y="192405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方法机制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111722" y="2290762"/>
            <a:ext cx="3895130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63887" y="192405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按估计原料因子调节两个通道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006852" y="2290762"/>
            <a:ext cx="28704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27602" y="192405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解析推导与对照结果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6700" y="2814638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6700" y="2814638"/>
            <a:ext cx="1845022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50987" y="2447925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验证设计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111722" y="2814638"/>
            <a:ext cx="3895130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763887" y="2447925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以同批次对照、消融检验机制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006852" y="2814638"/>
            <a:ext cx="2870448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32352" y="2447925"/>
            <a:ext cx="2019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数据、脚本与误差分析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66700" y="3000375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66700" y="3152775"/>
            <a:ext cx="58102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创新表述需要具体说明新增了什么，以及由什么证据支持。</a:t>
            </a:r>
            <a:endParaRPr lang="en-US" sz="1725" dirty="0"/>
          </a:p>
        </p:txBody>
      </p:sp>
      <p:sp>
        <p:nvSpPr>
          <p:cNvPr id="41" name="Text 39"/>
          <p:cNvSpPr txBox="1"/>
          <p:nvPr/>
        </p:nvSpPr>
        <p:spPr>
          <a:xfrm>
            <a:off x="266700" y="3462337"/>
            <a:ext cx="5753100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本页示范博士答辩的贡献表达，不声称教学中的简单解析补偿具有真实学术新颖性。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97205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研究局限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：模型结论与真实实验的距离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19/22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266700" y="762000"/>
            <a:ext cx="13716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当前结果支持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942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0" name="Text 8"/>
          <p:cNvSpPr txBox="1"/>
          <p:nvPr/>
        </p:nvSpPr>
        <p:spPr>
          <a:xfrm>
            <a:off x="774204" y="1190625"/>
            <a:ext cx="27146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在给定模型下，解析补偿有效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4942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774204" y="1550640"/>
            <a:ext cx="2114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估计质量影响响应偏差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4942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4" name="Text 12"/>
          <p:cNvSpPr txBox="1"/>
          <p:nvPr/>
        </p:nvSpPr>
        <p:spPr>
          <a:xfrm>
            <a:off x="774204" y="1910655"/>
            <a:ext cx="2114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消融能够解释通道作用</a:t>
            </a:r>
            <a:endParaRPr lang="en-US" sz="1575" dirty="0"/>
          </a:p>
        </p:txBody>
      </p:sp>
      <p:sp>
        <p:nvSpPr>
          <p:cNvPr id="15" name="Text 13"/>
          <p:cNvSpPr txBox="1"/>
          <p:nvPr/>
        </p:nvSpPr>
        <p:spPr>
          <a:xfrm>
            <a:off x="4686300" y="762000"/>
            <a:ext cx="158115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真实验证还需要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9138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5193804" y="119062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明确人群与感官评价规则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49138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5193804" y="1550640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随机呈样、盲评和重复批次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49138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193804" y="1910655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对原料、火候和用量做记录</a:t>
            </a:r>
            <a:endParaRPr lang="en-US" sz="1575" dirty="0"/>
          </a:p>
        </p:txBody>
      </p:sp>
      <p:sp>
        <p:nvSpPr>
          <p:cNvPr id="22" name="Text 20"/>
          <p:cNvSpPr txBox="1"/>
          <p:nvPr/>
        </p:nvSpPr>
        <p:spPr>
          <a:xfrm>
            <a:off x="4913888" y="2213521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5193804" y="2270671"/>
            <a:ext cx="2514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检查模型与实际响应的偏差</a:t>
            </a:r>
            <a:endParaRPr lang="en-US" sz="1575" dirty="0"/>
          </a:p>
        </p:txBody>
      </p:sp>
      <p:sp>
        <p:nvSpPr>
          <p:cNvPr id="24" name="Shape 22"/>
          <p:cNvSpPr/>
          <p:nvPr/>
        </p:nvSpPr>
        <p:spPr>
          <a:xfrm>
            <a:off x="266700" y="2821186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66700" y="2973586"/>
            <a:ext cx="49339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模型内成立的结论，需要在目标场景中继续验证。</a:t>
            </a:r>
            <a:endParaRPr lang="en-US" sz="17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52578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研究总结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：把一道菜组织成完整研究论证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20/22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66700" y="1243013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6700" y="733425"/>
            <a:ext cx="1683246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0" name="Shape 8"/>
          <p:cNvSpPr/>
          <p:nvPr/>
        </p:nvSpPr>
        <p:spPr>
          <a:xfrm>
            <a:off x="266700" y="1243013"/>
            <a:ext cx="1683246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0173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研究环节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49946" y="733425"/>
            <a:ext cx="3625453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9946" y="1243013"/>
            <a:ext cx="362545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24523" y="876300"/>
            <a:ext cx="876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本例做法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575399" y="733425"/>
            <a:ext cx="3301901" cy="519112"/>
          </a:xfrm>
          <a:prstGeom prst="rect">
            <a:avLst/>
          </a:prstGeom>
          <a:solidFill>
            <a:srgbClr val="EDF2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75399" y="1243013"/>
            <a:ext cx="330190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7200" y="876300"/>
            <a:ext cx="1638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可复用的汇报方法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6700" y="1766887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6700" y="1766887"/>
            <a:ext cx="1683246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0673" y="1400175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949946" y="1766887"/>
            <a:ext cx="362545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943523" y="1400175"/>
            <a:ext cx="1638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批次响应难以一致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575399" y="1766887"/>
            <a:ext cx="330190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450" y="1400175"/>
            <a:ext cx="144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从明确困难出发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66700" y="2290762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6700" y="2290762"/>
            <a:ext cx="1683246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60673" y="1924050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949946" y="2290762"/>
            <a:ext cx="362545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48273" y="192405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按估计状态协同调节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575399" y="2290762"/>
            <a:ext cx="330190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11950" y="192405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解释机制与成立条件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6700" y="2814638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6700" y="2814638"/>
            <a:ext cx="1683246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0673" y="2447925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949946" y="2814638"/>
            <a:ext cx="362545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753023" y="2447925"/>
            <a:ext cx="2019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对照、消融和扰动分析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575399" y="2814638"/>
            <a:ext cx="330190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11950" y="2447925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让实验逐项回答问题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66700" y="3338513"/>
            <a:ext cx="8610600" cy="9525"/>
          </a:xfrm>
          <a:prstGeom prst="rect">
            <a:avLst/>
          </a:prstGeom>
          <a:solidFill>
            <a:srgbClr val="9CA3AF">
              <a:alpha val="2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66700" y="3338513"/>
            <a:ext cx="1683246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0673" y="2971800"/>
            <a:ext cx="49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949946" y="3338513"/>
            <a:ext cx="3625453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848273" y="29718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给定模型内偏差减小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575399" y="3338513"/>
            <a:ext cx="3301901" cy="9525"/>
          </a:xfrm>
          <a:prstGeom prst="rect">
            <a:avLst/>
          </a:prstGeom>
          <a:solidFill>
            <a:srgbClr val="B0BED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11950" y="29718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贡献与证据范围一致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266700" y="3524250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66700" y="3676650"/>
            <a:ext cx="53721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一道家常菜也能讲出清楚的问题、机制、证据和边界。</a:t>
            </a:r>
            <a:endParaRPr lang="en-US" sz="17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" y="561975"/>
            <a:ext cx="8915400" cy="4762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" y="76200"/>
            <a:ext cx="666750" cy="409575"/>
          </a:xfrm>
          <a:prstGeom prst="rect">
            <a:avLst/>
          </a:prstGeom>
          <a:solidFill>
            <a:srgbClr val="003CAA"/>
          </a:solidFill>
          <a:ln/>
          <a:effectLst>
            <a:outerShdw sx="100000" sy="100000" kx="0" ky="0" algn="bl" rotWithShape="0" blurRad="19050" dist="34385" dir="3360000">
              <a:srgbClr val="AAB4CB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80975" y="109537"/>
            <a:ext cx="6477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endParaRPr lang="en-US" sz="2325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109537"/>
            <a:ext cx="46863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研究展望</a:t>
            </a:r>
            <a:pPr algn="l" indent="0" marL="0">
              <a:buNone/>
            </a:pPr>
            <a:r>
              <a:rPr lang="en-US" sz="225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：从教学模型迈向真实问题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8382000" y="247650"/>
            <a:ext cx="7620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21/22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266700" y="762000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模型完善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942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0" name="Text 8"/>
          <p:cNvSpPr txBox="1"/>
          <p:nvPr/>
        </p:nvSpPr>
        <p:spPr>
          <a:xfrm>
            <a:off x="774204" y="119062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用真实记录识别响应关系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4942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774204" y="1550640"/>
            <a:ext cx="27146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检查非线性、耦合与时变因素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4942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4" name="Text 12"/>
          <p:cNvSpPr txBox="1"/>
          <p:nvPr/>
        </p:nvSpPr>
        <p:spPr>
          <a:xfrm>
            <a:off x="774204" y="191065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量化估计误差与失效范围</a:t>
            </a:r>
            <a:endParaRPr lang="en-US" sz="1575" dirty="0"/>
          </a:p>
        </p:txBody>
      </p:sp>
      <p:sp>
        <p:nvSpPr>
          <p:cNvPr id="15" name="Text 13"/>
          <p:cNvSpPr txBox="1"/>
          <p:nvPr/>
        </p:nvSpPr>
        <p:spPr>
          <a:xfrm>
            <a:off x="4686300" y="762000"/>
            <a:ext cx="952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验证拓展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913888" y="113347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5193804" y="1190625"/>
            <a:ext cx="2114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先明确评价人群与目标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4913888" y="1493490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5193804" y="1550640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设计随机呈样和盲评流程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4913888" y="1853505"/>
            <a:ext cx="354330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▪ 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193804" y="1910655"/>
            <a:ext cx="23145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扩展原料批次与工况范围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66700" y="2461171"/>
            <a:ext cx="8610600" cy="19050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66700" y="2613571"/>
            <a:ext cx="53721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下一步验证模型假设，再讨论方法能否用于真实场景。</a:t>
            </a:r>
            <a:endParaRPr lang="en-US" sz="17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66800" y="700088"/>
            <a:ext cx="1428750" cy="28575"/>
          </a:xfrm>
          <a:prstGeom prst="rect">
            <a:avLst/>
          </a:prstGeom>
          <a:solidFill>
            <a:srgbClr val="003CA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95650" y="533400"/>
            <a:ext cx="25527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科研汇报教学示例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648450" y="700088"/>
            <a:ext cx="1428750" cy="28575"/>
          </a:xfrm>
          <a:prstGeom prst="rect">
            <a:avLst/>
          </a:prstGeom>
          <a:solidFill>
            <a:srgbClr val="003CAA"/>
          </a:solidFill>
          <a:ln/>
        </p:spPr>
      </p:sp>
      <p:pic>
        <p:nvPicPr>
          <p:cNvPr id="6" name="Image 0" descr="Rendered as an image because of CSS sv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38600" y="4538662"/>
            <a:ext cx="1066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514350" y="1428750"/>
            <a:ext cx="81153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</a:t>
            </a:r>
            <a:br/>
            <a:pPr algn="ctr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C8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这盘菜的证据够不够？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3238500" y="2609850"/>
            <a:ext cx="2667000" cy="542925"/>
          </a:xfrm>
          <a:prstGeom prst="roundRect">
            <a:avLst>
              <a:gd name="adj" fmla="val 17544"/>
            </a:avLst>
          </a:prstGeom>
          <a:solidFill>
            <a:srgbClr val="003CA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95725" y="2733675"/>
            <a:ext cx="13525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番茄课题组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2214563" y="3419475"/>
            <a:ext cx="47148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003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示例代码与数据均已附带 欢迎讨论研究设计</a:t>
            </a:r>
            <a:endParaRPr lang="en-US" sz="17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西红柿炒鸡蛋科研汇报示例</dc:title>
  <dc:subject>PptxGenJS Presentation</dc:subject>
  <dc:creator>PptxGenJS</dc:creator>
  <cp:lastModifiedBy>PptxGenJS</cp:lastModifiedBy>
  <cp:revision>1</cp:revision>
  <dcterms:created xsi:type="dcterms:W3CDTF">2026-10-19T13:58:52Z</dcterms:created>
  <dcterms:modified xsi:type="dcterms:W3CDTF">2026-10-19T13:58:52Z</dcterms:modified>
</cp:coreProperties>
</file>