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原创教学演绎，使用家常菜类比科研流程。数值来自合成响应模型，不是食品实验或真实口味结论。建议讲述约 12–15 分钟，按实际演练调整。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用熟悉场景提出一致性问题。这里把原料变化作为待研究因素，不声称已证明真实食品机理。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这是方案类别的教学比较，不是对真实文献的综述，不使用虚构作者和论文。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先明确目标与指标，避免把加辣后更辣作为方法更好的证据。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说明研究范围。下一部分只验证一个清楚的合成响应模型，不能外推到真实烹饪。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模型故意简单，使问题和机制一目了然。不能将其作为菜肴化学或感官科学理论。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推导直接由定义得到。这里没有学习算法，也不将解析补偿包装成新算法。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噪声是对原料因子的加性高斯噪声；估计值下限为0.1。没有训练集拟合，因此无需伪造训练过程。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先读指标与目标，再比较方案。固定原配方没有辣椒通道，是任务对照，不能据此否定不吃辣人群的配方。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消融和主表使用同一批结果，不重复声称新增实验。只表明这个合成模型中的构成作用。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对原料因子轴进行读图引导。散点只展示当前采样范围，不证明所有扰动下都鲁棒。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不宣称真实口味改善、食品安全、营养或临床效果；这些没有在本例中测量。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这是汇报教学总结，不将教学中的解析规则宣称为真实科研创新。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066800" y="700088"/>
            <a:ext cx="1428750" cy="28575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95650" y="533400"/>
            <a:ext cx="25527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科研汇报教学示例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648450" y="700088"/>
            <a:ext cx="1428750" cy="28575"/>
          </a:xfrm>
          <a:prstGeom prst="rect">
            <a:avLst/>
          </a:prstGeom>
          <a:solidFill>
            <a:srgbClr val="003CAA"/>
          </a:solidFill>
          <a:ln/>
        </p:spPr>
      </p:sp>
      <p:pic>
        <p:nvPicPr>
          <p:cNvPr id="6" name="Image 0" descr="Rendered as an image because of CSS sv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443288" y="4538662"/>
            <a:ext cx="225742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配套可复现教学模型</a:t>
            </a:r>
            <a:endParaRPr lang="en-US" sz="1875" dirty="0"/>
          </a:p>
        </p:txBody>
      </p:sp>
      <p:sp>
        <p:nvSpPr>
          <p:cNvPr id="8" name="Text 5"/>
          <p:cNvSpPr txBox="1"/>
          <p:nvPr/>
        </p:nvSpPr>
        <p:spPr>
          <a:xfrm>
            <a:off x="514350" y="1428750"/>
            <a:ext cx="81153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C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面向口味一致性的西红柿炒鸡蛋</a:t>
            </a:r>
            <a:br/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C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配比协同调节方法研究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3238500" y="2609850"/>
            <a:ext cx="2667000" cy="542925"/>
          </a:xfrm>
          <a:prstGeom prst="roundRect">
            <a:avLst>
              <a:gd name="adj" fmla="val 17544"/>
            </a:avLst>
          </a:prstGeom>
          <a:solidFill>
            <a:srgbClr val="003C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400425" y="2733675"/>
            <a:ext cx="23431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汇报人：番茄课题组</a:t>
            </a:r>
            <a:endParaRPr lang="en-US" sz="1950" dirty="0"/>
          </a:p>
        </p:txBody>
      </p:sp>
      <p:sp>
        <p:nvSpPr>
          <p:cNvPr id="11" name="Text 8"/>
          <p:cNvSpPr txBox="1"/>
          <p:nvPr/>
        </p:nvSpPr>
        <p:spPr>
          <a:xfrm>
            <a:off x="2105025" y="3419475"/>
            <a:ext cx="49339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研究对象：西红柿炒鸡蛋 主题：从问题到证据</a:t>
            </a:r>
            <a:endParaRPr lang="en-US" sz="17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931890" cy="5143500"/>
          </a:xfrm>
          <a:prstGeom prst="rect">
            <a:avLst/>
          </a:prstGeom>
          <a:solidFill>
            <a:srgbClr val="183A8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51458" y="1619250"/>
            <a:ext cx="2143125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 报 提 纲</a:t>
            </a:r>
            <a:endParaRPr lang="en-US" sz="3150" dirty="0"/>
          </a:p>
        </p:txBody>
      </p:sp>
      <p:pic>
        <p:nvPicPr>
          <p:cNvPr id="5" name="Image 0" descr="Rendered as an image because of CSS sv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1496" y="2428875"/>
            <a:ext cx="1428750" cy="10477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60515" y="1343025"/>
            <a:ext cx="609600" cy="552450"/>
          </a:xfrm>
          <a:prstGeom prst="rect">
            <a:avLst/>
          </a:prstGeom>
          <a:solidFill>
            <a:srgbClr val="C8000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22440" y="1452562"/>
            <a:ext cx="4000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5198715" y="1452562"/>
            <a:ext cx="24003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为什么研究这道菜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4360515" y="2295525"/>
            <a:ext cx="609600" cy="552450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22440" y="2405062"/>
            <a:ext cx="4000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5198715" y="2405062"/>
            <a:ext cx="21145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方法设计与验证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4360515" y="3248025"/>
            <a:ext cx="609600" cy="552450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22440" y="3357563"/>
            <a:ext cx="4000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5198715" y="3357563"/>
            <a:ext cx="21145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结论及适用边界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" y="561975"/>
            <a:ext cx="8915400" cy="47625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" y="76200"/>
            <a:ext cx="666750" cy="409575"/>
          </a:xfrm>
          <a:prstGeom prst="rect">
            <a:avLst/>
          </a:prstGeom>
          <a:solidFill>
            <a:srgbClr val="003CAA"/>
          </a:solidFill>
          <a:ln/>
          <a:effectLst>
            <a:outerShdw sx="100000" sy="100000" kx="0" ky="0" algn="bl" rotWithShape="0" blurRad="19050" dist="34385" dir="3360000">
              <a:srgbClr val="AAB4CB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80975" y="109537"/>
            <a:ext cx="6477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2325" dirty="0"/>
          </a:p>
        </p:txBody>
      </p:sp>
      <p:sp>
        <p:nvSpPr>
          <p:cNvPr id="6" name="Text 4"/>
          <p:cNvSpPr txBox="1"/>
          <p:nvPr/>
        </p:nvSpPr>
        <p:spPr>
          <a:xfrm>
            <a:off x="952500" y="109537"/>
            <a:ext cx="46863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</a:t>
            </a:r>
            <a:pPr algn="l" indent="0" marL="0">
              <a:buNone/>
            </a:pPr>
            <a:r>
              <a:rPr lang="en-US" sz="2250" b="1" dirty="0">
                <a:solidFill>
                  <a:srgbClr val="C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：配方相同，结果可能不同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8524875" y="247650"/>
            <a:ext cx="61912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3/16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266700" y="762000"/>
            <a:ext cx="15811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一个熟悉的问题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266700" y="1133475"/>
            <a:ext cx="411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同样照着配方做，为什么味道难以保持一致？</a:t>
            </a:r>
            <a:endParaRPr lang="en-US" sz="1575" dirty="0"/>
          </a:p>
        </p:txBody>
      </p:sp>
      <p:sp>
        <p:nvSpPr>
          <p:cNvPr id="10" name="Text 8"/>
          <p:cNvSpPr txBox="1"/>
          <p:nvPr/>
        </p:nvSpPr>
        <p:spPr>
          <a:xfrm>
            <a:off x="494288" y="1438275"/>
            <a:ext cx="354330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575" dirty="0"/>
          </a:p>
        </p:txBody>
      </p:sp>
      <p:sp>
        <p:nvSpPr>
          <p:cNvPr id="11" name="Text 9"/>
          <p:cNvSpPr txBox="1"/>
          <p:nvPr/>
        </p:nvSpPr>
        <p:spPr>
          <a:xfrm>
            <a:off x="774204" y="1495425"/>
            <a:ext cx="1714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原料状态可能变化</a:t>
            </a:r>
            <a:endParaRPr lang="en-US" sz="1575" dirty="0"/>
          </a:p>
        </p:txBody>
      </p:sp>
      <p:sp>
        <p:nvSpPr>
          <p:cNvPr id="12" name="Text 10"/>
          <p:cNvSpPr txBox="1"/>
          <p:nvPr/>
        </p:nvSpPr>
        <p:spPr>
          <a:xfrm>
            <a:off x="494288" y="1798290"/>
            <a:ext cx="354330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575" dirty="0"/>
          </a:p>
        </p:txBody>
      </p:sp>
      <p:sp>
        <p:nvSpPr>
          <p:cNvPr id="13" name="Text 11"/>
          <p:cNvSpPr txBox="1"/>
          <p:nvPr/>
        </p:nvSpPr>
        <p:spPr>
          <a:xfrm>
            <a:off x="774204" y="1855440"/>
            <a:ext cx="2514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固定用量难以对应所有批次</a:t>
            </a:r>
            <a:endParaRPr lang="en-US" sz="1575" dirty="0"/>
          </a:p>
        </p:txBody>
      </p:sp>
      <p:sp>
        <p:nvSpPr>
          <p:cNvPr id="14" name="Text 12"/>
          <p:cNvSpPr txBox="1"/>
          <p:nvPr/>
        </p:nvSpPr>
        <p:spPr>
          <a:xfrm>
            <a:off x="494288" y="2158305"/>
            <a:ext cx="354330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575" dirty="0"/>
          </a:p>
        </p:txBody>
      </p:sp>
      <p:sp>
        <p:nvSpPr>
          <p:cNvPr id="15" name="Text 13"/>
          <p:cNvSpPr txBox="1"/>
          <p:nvPr/>
        </p:nvSpPr>
        <p:spPr>
          <a:xfrm>
            <a:off x="774204" y="2215455"/>
            <a:ext cx="23241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“适量”缺少可复现的描述</a:t>
            </a:r>
            <a:endParaRPr lang="en-US" sz="1575" dirty="0"/>
          </a:p>
        </p:txBody>
      </p:sp>
      <p:sp>
        <p:nvSpPr>
          <p:cNvPr id="16" name="Text 14"/>
          <p:cNvSpPr txBox="1"/>
          <p:nvPr/>
        </p:nvSpPr>
        <p:spPr>
          <a:xfrm>
            <a:off x="266700" y="2594521"/>
            <a:ext cx="35147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C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研究目标：减少批次之间的响应偏差。</a:t>
            </a:r>
            <a:endParaRPr lang="en-US" sz="1575" dirty="0"/>
          </a:p>
        </p:txBody>
      </p:sp>
      <p:pic>
        <p:nvPicPr>
          <p:cNvPr id="17" name="Image 0" descr="原创番茄炒蛋示意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6300" y="962025"/>
            <a:ext cx="4191000" cy="2095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" y="561975"/>
            <a:ext cx="8915400" cy="47625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" y="76200"/>
            <a:ext cx="666750" cy="409575"/>
          </a:xfrm>
          <a:prstGeom prst="rect">
            <a:avLst/>
          </a:prstGeom>
          <a:solidFill>
            <a:srgbClr val="003CAA"/>
          </a:solidFill>
          <a:ln/>
          <a:effectLst>
            <a:outerShdw sx="100000" sy="100000" kx="0" ky="0" algn="bl" rotWithShape="0" blurRad="19050" dist="34385" dir="3360000">
              <a:srgbClr val="AAB4CB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80975" y="109537"/>
            <a:ext cx="6477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</a:t>
            </a:r>
            <a:endParaRPr lang="en-US" sz="2325" dirty="0"/>
          </a:p>
        </p:txBody>
      </p:sp>
      <p:sp>
        <p:nvSpPr>
          <p:cNvPr id="6" name="Text 4"/>
          <p:cNvSpPr txBox="1"/>
          <p:nvPr/>
        </p:nvSpPr>
        <p:spPr>
          <a:xfrm>
            <a:off x="952500" y="109537"/>
            <a:ext cx="46863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研究现状</a:t>
            </a:r>
            <a:pPr algn="l" indent="0" marL="0">
              <a:buNone/>
            </a:pPr>
            <a:r>
              <a:rPr lang="en-US" sz="2250" b="1" dirty="0">
                <a:solidFill>
                  <a:srgbClr val="C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：加了配料，如何证明有用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8524875" y="247650"/>
            <a:ext cx="61912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4/16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66700" y="1243013"/>
            <a:ext cx="86106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66700" y="733425"/>
            <a:ext cx="2094458" cy="519112"/>
          </a:xfrm>
          <a:prstGeom prst="rect">
            <a:avLst/>
          </a:prstGeom>
          <a:solidFill>
            <a:srgbClr val="ED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266700" y="1243013"/>
            <a:ext cx="2094458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66205" y="876300"/>
            <a:ext cx="495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361158" y="733425"/>
            <a:ext cx="2676227" cy="519112"/>
          </a:xfrm>
          <a:prstGeom prst="rect">
            <a:avLst/>
          </a:prstGeom>
          <a:solidFill>
            <a:srgbClr val="EDF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361158" y="1243013"/>
            <a:ext cx="2676227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165872" y="876300"/>
            <a:ext cx="1066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改变了什么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37386" y="733425"/>
            <a:ext cx="3839914" cy="519112"/>
          </a:xfrm>
          <a:prstGeom prst="rect">
            <a:avLst/>
          </a:prstGeom>
          <a:solidFill>
            <a:srgbClr val="EDF2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037386" y="1243013"/>
            <a:ext cx="3839914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19118" y="876300"/>
            <a:ext cx="876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仍需回答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66700" y="1766887"/>
            <a:ext cx="86106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66700" y="1766887"/>
            <a:ext cx="2094458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0455" y="1400175"/>
            <a:ext cx="1066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固定原配方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361158" y="1766887"/>
            <a:ext cx="2676227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070622" y="1400175"/>
            <a:ext cx="1257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固定基础调味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037386" y="1766887"/>
            <a:ext cx="3839914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757118" y="1400175"/>
            <a:ext cx="2400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原料变化时如何保持一致？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66700" y="2290762"/>
            <a:ext cx="86106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6700" y="2290762"/>
            <a:ext cx="2094458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0455" y="1924050"/>
            <a:ext cx="1066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固定加辣椒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2361158" y="2290762"/>
            <a:ext cx="2676227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880122" y="1924050"/>
            <a:ext cx="1638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增加一个风味维度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037386" y="2290762"/>
            <a:ext cx="3839914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852368" y="1924050"/>
            <a:ext cx="2209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新目标是否真的需要它？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266700" y="2814638"/>
            <a:ext cx="86106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66700" y="2814638"/>
            <a:ext cx="2094458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85205" y="2447925"/>
            <a:ext cx="1257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根据原料调节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2361158" y="2814638"/>
            <a:ext cx="2676227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880122" y="2447925"/>
            <a:ext cx="1638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让用量随状态变化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037386" y="2814638"/>
            <a:ext cx="3839914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757118" y="2447925"/>
            <a:ext cx="2400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误差来自哪里，如何验证？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266700" y="3000375"/>
            <a:ext cx="8610600" cy="19050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266700" y="3152775"/>
            <a:ext cx="44958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配料变化需要与目标、方法和证据建立联系。</a:t>
            </a:r>
            <a:endParaRPr lang="en-US" sz="17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" y="561975"/>
            <a:ext cx="8915400" cy="47625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" y="76200"/>
            <a:ext cx="666750" cy="409575"/>
          </a:xfrm>
          <a:prstGeom prst="rect">
            <a:avLst/>
          </a:prstGeom>
          <a:solidFill>
            <a:srgbClr val="003CAA"/>
          </a:solidFill>
          <a:ln/>
          <a:effectLst>
            <a:outerShdw sx="100000" sy="100000" kx="0" ky="0" algn="bl" rotWithShape="0" blurRad="19050" dist="34385" dir="3360000">
              <a:srgbClr val="AAB4CB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80975" y="109537"/>
            <a:ext cx="6477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</a:t>
            </a:r>
            <a:endParaRPr lang="en-US" sz="2325" dirty="0"/>
          </a:p>
        </p:txBody>
      </p:sp>
      <p:sp>
        <p:nvSpPr>
          <p:cNvPr id="6" name="Text 4"/>
          <p:cNvSpPr txBox="1"/>
          <p:nvPr/>
        </p:nvSpPr>
        <p:spPr>
          <a:xfrm>
            <a:off x="952500" y="109537"/>
            <a:ext cx="50673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</a:t>
            </a:r>
            <a:pPr algn="l" indent="0" marL="0">
              <a:buNone/>
            </a:pPr>
            <a:r>
              <a:rPr lang="en-US" sz="2250" b="1" dirty="0">
                <a:solidFill>
                  <a:srgbClr val="C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：先把“好吃”改成可检验目标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8524875" y="247650"/>
            <a:ext cx="61912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5/16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66700" y="733425"/>
            <a:ext cx="8610600" cy="528638"/>
          </a:xfrm>
          <a:prstGeom prst="rect">
            <a:avLst/>
          </a:prstGeom>
          <a:noFill/>
          <a:ln w="9525">
            <a:solidFill>
              <a:srgbClr val="003CAA"/>
            </a:solidFill>
            <a:prstDash val="solid"/>
          </a:ln>
          <a:effectLst>
            <a:outerShdw sx="100000" sy="100000" kx="0" ky="0" algn="bl" rotWithShape="0" blurRad="19050" dist="34385" dir="3360000">
              <a:srgbClr val="B1BDD3">
                <a:alpha val="10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981200" y="857250"/>
            <a:ext cx="51816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本例研究“接近指定响应”，不评价谁觉得更好吃</a:t>
            </a:r>
            <a:endParaRPr lang="en-US" sz="1875" dirty="0"/>
          </a:p>
        </p:txBody>
      </p:sp>
      <p:sp>
        <p:nvSpPr>
          <p:cNvPr id="10" name="Text 8"/>
          <p:cNvSpPr txBox="1"/>
          <p:nvPr/>
        </p:nvSpPr>
        <p:spPr>
          <a:xfrm>
            <a:off x="266700" y="1462088"/>
            <a:ext cx="952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教学变量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494288" y="1833562"/>
            <a:ext cx="354330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575" dirty="0"/>
          </a:p>
        </p:txBody>
      </p:sp>
      <p:pic>
        <p:nvPicPr>
          <p:cNvPr id="12" name="Image 0" descr="Rendered as an image because of CSS ma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204" y="1852612"/>
            <a:ext cx="209550" cy="28575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983754" y="1890712"/>
            <a:ext cx="15144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：原料扰动因子</a:t>
            </a:r>
            <a:endParaRPr lang="en-US" sz="1575" dirty="0"/>
          </a:p>
        </p:txBody>
      </p:sp>
      <p:sp>
        <p:nvSpPr>
          <p:cNvPr id="14" name="Text 11"/>
          <p:cNvSpPr txBox="1"/>
          <p:nvPr/>
        </p:nvSpPr>
        <p:spPr>
          <a:xfrm>
            <a:off x="494288" y="2193578"/>
            <a:ext cx="354330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575" dirty="0"/>
          </a:p>
        </p:txBody>
      </p:sp>
      <p:pic>
        <p:nvPicPr>
          <p:cNvPr id="15" name="Image 1" descr="Rendered as an image because of CSS ma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204" y="2212628"/>
            <a:ext cx="240655" cy="28575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14859" y="2250728"/>
            <a:ext cx="15144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：基础调味用量</a:t>
            </a:r>
            <a:endParaRPr lang="en-US" sz="1575" dirty="0"/>
          </a:p>
        </p:txBody>
      </p:sp>
      <p:sp>
        <p:nvSpPr>
          <p:cNvPr id="17" name="Text 13"/>
          <p:cNvSpPr txBox="1"/>
          <p:nvPr/>
        </p:nvSpPr>
        <p:spPr>
          <a:xfrm>
            <a:off x="494288" y="2553593"/>
            <a:ext cx="354330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575" dirty="0"/>
          </a:p>
        </p:txBody>
      </p:sp>
      <p:pic>
        <p:nvPicPr>
          <p:cNvPr id="18" name="Image 2" descr="Rendered as an image because of CSS mat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04" y="2572643"/>
            <a:ext cx="240655" cy="28575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14859" y="2610743"/>
            <a:ext cx="15144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：辣椒调味用量</a:t>
            </a:r>
            <a:endParaRPr lang="en-US" sz="1575" dirty="0"/>
          </a:p>
        </p:txBody>
      </p:sp>
      <p:sp>
        <p:nvSpPr>
          <p:cNvPr id="20" name="Text 15"/>
          <p:cNvSpPr txBox="1"/>
          <p:nvPr/>
        </p:nvSpPr>
        <p:spPr>
          <a:xfrm>
            <a:off x="494288" y="2913608"/>
            <a:ext cx="354330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575" dirty="0"/>
          </a:p>
        </p:txBody>
      </p:sp>
      <p:pic>
        <p:nvPicPr>
          <p:cNvPr id="21" name="Image 3" descr="Rendered as an image because of CSS mat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204" y="2932658"/>
            <a:ext cx="531168" cy="28575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05371" y="2970758"/>
            <a:ext cx="13144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：归一化响应</a:t>
            </a:r>
            <a:endParaRPr lang="en-US" sz="1575" dirty="0"/>
          </a:p>
        </p:txBody>
      </p:sp>
      <p:sp>
        <p:nvSpPr>
          <p:cNvPr id="23" name="Text 17"/>
          <p:cNvSpPr txBox="1"/>
          <p:nvPr/>
        </p:nvSpPr>
        <p:spPr>
          <a:xfrm>
            <a:off x="4686300" y="1462088"/>
            <a:ext cx="952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固定目标</a:t>
            </a:r>
            <a:endParaRPr lang="en-US" sz="1650" dirty="0"/>
          </a:p>
        </p:txBody>
      </p:sp>
      <p:pic>
        <p:nvPicPr>
          <p:cNvPr id="24" name="Image 4" descr="Rendered as an image because of CSS math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1928813"/>
            <a:ext cx="4191000" cy="338435"/>
          </a:xfrm>
          <a:prstGeom prst="rect">
            <a:avLst/>
          </a:prstGeom>
        </p:spPr>
      </p:pic>
      <p:pic>
        <p:nvPicPr>
          <p:cNvPr id="25" name="Image 5" descr="Rendered as an image because of CSS math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2457748"/>
            <a:ext cx="4191000" cy="338435"/>
          </a:xfrm>
          <a:prstGeom prst="rect">
            <a:avLst/>
          </a:prstGeom>
        </p:spPr>
      </p:pic>
      <p:pic>
        <p:nvPicPr>
          <p:cNvPr id="26" name="Image 6" descr="Rendered as an image because of CSS math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3100" y="2986683"/>
            <a:ext cx="114300" cy="285750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4686300" y="3024783"/>
            <a:ext cx="2895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目标是减少 </a:t>
            </a:r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，不是追求更辣。</a:t>
            </a:r>
            <a:endParaRPr lang="en-US" sz="1575" dirty="0"/>
          </a:p>
        </p:txBody>
      </p:sp>
      <p:sp>
        <p:nvSpPr>
          <p:cNvPr id="28" name="Text 19"/>
          <p:cNvSpPr txBox="1"/>
          <p:nvPr/>
        </p:nvSpPr>
        <p:spPr>
          <a:xfrm>
            <a:off x="266700" y="3391346"/>
            <a:ext cx="48387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6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所有变量与目标均为人为定义的教学量，无物理单位和真实口感标定。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" y="561975"/>
            <a:ext cx="8915400" cy="47625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" y="76200"/>
            <a:ext cx="666750" cy="409575"/>
          </a:xfrm>
          <a:prstGeom prst="rect">
            <a:avLst/>
          </a:prstGeom>
          <a:solidFill>
            <a:srgbClr val="003CAA"/>
          </a:solidFill>
          <a:ln/>
          <a:effectLst>
            <a:outerShdw sx="100000" sy="100000" kx="0" ky="0" algn="bl" rotWithShape="0" blurRad="19050" dist="34385" dir="3360000">
              <a:srgbClr val="AAB4CB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80975" y="109537"/>
            <a:ext cx="6477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1.4</a:t>
            </a:r>
            <a:endParaRPr lang="en-US" sz="2325" dirty="0"/>
          </a:p>
        </p:txBody>
      </p:sp>
      <p:sp>
        <p:nvSpPr>
          <p:cNvPr id="6" name="Text 4"/>
          <p:cNvSpPr txBox="1"/>
          <p:nvPr/>
        </p:nvSpPr>
        <p:spPr>
          <a:xfrm>
            <a:off x="952500" y="109537"/>
            <a:ext cx="52578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总体思路</a:t>
            </a:r>
            <a:pPr algn="l" indent="0" marL="0">
              <a:buNone/>
            </a:pPr>
            <a:r>
              <a:rPr lang="en-US" sz="2250" b="1" dirty="0">
                <a:solidFill>
                  <a:srgbClr val="C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：将配方改成随原料变化的规则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8524875" y="247650"/>
            <a:ext cx="61912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6/16</a:t>
            </a:r>
            <a:endParaRPr lang="en-US" sz="1650" dirty="0"/>
          </a:p>
        </p:txBody>
      </p:sp>
      <p:pic>
        <p:nvPicPr>
          <p:cNvPr id="8" name="Image 0" descr="观察、计算、执行与评价流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971550"/>
            <a:ext cx="8610600" cy="252010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66700" y="3663107"/>
            <a:ext cx="8610600" cy="19050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66700" y="3767882"/>
            <a:ext cx="559117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核心假设：若响应随原料因子缩放，用量也应随之调节。</a:t>
            </a:r>
            <a:endParaRPr lang="en-US" sz="1725" dirty="0"/>
          </a:p>
        </p:txBody>
      </p:sp>
      <p:sp>
        <p:nvSpPr>
          <p:cNvPr id="11" name="Text 8"/>
          <p:cNvSpPr txBox="1"/>
          <p:nvPr/>
        </p:nvSpPr>
        <p:spPr>
          <a:xfrm>
            <a:off x="266700" y="4025057"/>
            <a:ext cx="48387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6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烹饪流程为类比场景；本次计算未模拟温度、时间、营养或食品安全。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3931890" cy="5143500"/>
          </a:xfrm>
          <a:prstGeom prst="rect">
            <a:avLst/>
          </a:prstGeom>
          <a:solidFill>
            <a:srgbClr val="183A8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51458" y="1619250"/>
            <a:ext cx="2143125" cy="466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 报 提 纲</a:t>
            </a:r>
            <a:endParaRPr lang="en-US" sz="3150" dirty="0"/>
          </a:p>
        </p:txBody>
      </p:sp>
      <p:pic>
        <p:nvPicPr>
          <p:cNvPr id="5" name="Image 0" descr="Rendered as an image because of CSS sv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1496" y="2428875"/>
            <a:ext cx="1428750" cy="10477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60515" y="1343025"/>
            <a:ext cx="609600" cy="552450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22440" y="1452562"/>
            <a:ext cx="4000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2250" dirty="0"/>
          </a:p>
        </p:txBody>
      </p:sp>
      <p:sp>
        <p:nvSpPr>
          <p:cNvPr id="8" name="Text 5"/>
          <p:cNvSpPr txBox="1"/>
          <p:nvPr/>
        </p:nvSpPr>
        <p:spPr>
          <a:xfrm>
            <a:off x="5198715" y="1452562"/>
            <a:ext cx="24003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为什么研究这道菜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4360515" y="2295525"/>
            <a:ext cx="609600" cy="552450"/>
          </a:xfrm>
          <a:prstGeom prst="rect">
            <a:avLst/>
          </a:prstGeom>
          <a:solidFill>
            <a:srgbClr val="C8000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22440" y="2405062"/>
            <a:ext cx="4000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2250" dirty="0"/>
          </a:p>
        </p:txBody>
      </p:sp>
      <p:sp>
        <p:nvSpPr>
          <p:cNvPr id="11" name="Text 8"/>
          <p:cNvSpPr txBox="1"/>
          <p:nvPr/>
        </p:nvSpPr>
        <p:spPr>
          <a:xfrm>
            <a:off x="5198715" y="2405062"/>
            <a:ext cx="21145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方法设计与验证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4360515" y="3248025"/>
            <a:ext cx="609600" cy="552450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522440" y="3357563"/>
            <a:ext cx="4000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</a:t>
            </a:r>
            <a:endParaRPr lang="en-US" sz="2250" dirty="0"/>
          </a:p>
        </p:txBody>
      </p:sp>
      <p:sp>
        <p:nvSpPr>
          <p:cNvPr id="14" name="Text 11"/>
          <p:cNvSpPr txBox="1"/>
          <p:nvPr/>
        </p:nvSpPr>
        <p:spPr>
          <a:xfrm>
            <a:off x="5198715" y="3357563"/>
            <a:ext cx="21145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结论及适用边界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" y="561975"/>
            <a:ext cx="8915400" cy="47625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" y="76200"/>
            <a:ext cx="666750" cy="409575"/>
          </a:xfrm>
          <a:prstGeom prst="rect">
            <a:avLst/>
          </a:prstGeom>
          <a:solidFill>
            <a:srgbClr val="003CAA"/>
          </a:solidFill>
          <a:ln/>
          <a:effectLst>
            <a:outerShdw sx="100000" sy="100000" kx="0" ky="0" algn="bl" rotWithShape="0" blurRad="19050" dist="34385" dir="3360000">
              <a:srgbClr val="AAB4CB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80975" y="109537"/>
            <a:ext cx="6477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2325" dirty="0"/>
          </a:p>
        </p:txBody>
      </p:sp>
      <p:sp>
        <p:nvSpPr>
          <p:cNvPr id="6" name="Text 4"/>
          <p:cNvSpPr txBox="1"/>
          <p:nvPr/>
        </p:nvSpPr>
        <p:spPr>
          <a:xfrm>
            <a:off x="952500" y="109537"/>
            <a:ext cx="49720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教学模型</a:t>
            </a:r>
            <a:pPr algn="l" indent="0" marL="0">
              <a:buNone/>
            </a:pPr>
            <a:r>
              <a:rPr lang="en-US" sz="2250" b="1" dirty="0">
                <a:solidFill>
                  <a:srgbClr val="C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：固定用量为何产生批次偏差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8524875" y="247650"/>
            <a:ext cx="61912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8/16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66700" y="733425"/>
            <a:ext cx="8610600" cy="528638"/>
          </a:xfrm>
          <a:prstGeom prst="rect">
            <a:avLst/>
          </a:prstGeom>
          <a:noFill/>
          <a:ln w="9525">
            <a:solidFill>
              <a:srgbClr val="003CAA"/>
            </a:solidFill>
            <a:prstDash val="solid"/>
          </a:ln>
          <a:effectLst>
            <a:outerShdw sx="100000" sy="100000" kx="0" ky="0" algn="bl" rotWithShape="0" blurRad="19050" dist="34385" dir="3360000">
              <a:srgbClr val="B1BDD3">
                <a:alpha val="10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371725" y="857250"/>
            <a:ext cx="44005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设定一个可计算、可重复的合成响应关系</a:t>
            </a:r>
            <a:endParaRPr lang="en-US" sz="1875" dirty="0"/>
          </a:p>
        </p:txBody>
      </p:sp>
      <p:pic>
        <p:nvPicPr>
          <p:cNvPr id="10" name="Image 0" descr="Rendered as an image because of CSS ma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1452562"/>
            <a:ext cx="8610600" cy="477441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66700" y="2149078"/>
            <a:ext cx="952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固定配方</a:t>
            </a:r>
            <a:endParaRPr lang="en-US" sz="1650" dirty="0"/>
          </a:p>
        </p:txBody>
      </p:sp>
      <p:pic>
        <p:nvPicPr>
          <p:cNvPr id="12" name="Image 1" descr="Rendered as an image because of CSS ma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2520553"/>
            <a:ext cx="588318" cy="285750"/>
          </a:xfrm>
          <a:prstGeom prst="rect">
            <a:avLst/>
          </a:prstGeom>
        </p:spPr>
      </p:pic>
      <p:pic>
        <p:nvPicPr>
          <p:cNvPr id="13" name="Image 2" descr="Rendered as an image because of CSS mat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818" y="2520553"/>
            <a:ext cx="209550" cy="28575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55018" y="2558653"/>
            <a:ext cx="365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保持不变，</a:t>
            </a:r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改变时，响应随之变化。</a:t>
            </a:r>
            <a:endParaRPr lang="en-US" sz="1575" dirty="0"/>
          </a:p>
        </p:txBody>
      </p:sp>
      <p:sp>
        <p:nvSpPr>
          <p:cNvPr id="15" name="Text 10"/>
          <p:cNvSpPr txBox="1"/>
          <p:nvPr/>
        </p:nvSpPr>
        <p:spPr>
          <a:xfrm>
            <a:off x="4686300" y="2149078"/>
            <a:ext cx="952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问题转化</a:t>
            </a:r>
            <a:endParaRPr lang="en-US" sz="1650" dirty="0"/>
          </a:p>
        </p:txBody>
      </p:sp>
      <p:pic>
        <p:nvPicPr>
          <p:cNvPr id="16" name="Image 3" descr="Rendered as an image because of CSS mat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3100" y="2520553"/>
            <a:ext cx="209550" cy="28575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686300" y="2558653"/>
            <a:ext cx="4210050" cy="48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6"/>
              </a:lnSpc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根据估计值 </a:t>
            </a:r>
            <a:pPr algn="l" indent="0" marL="0">
              <a:lnSpc>
                <a:spcPts val="1986"/>
              </a:lnSpc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调整用量，使响应接近给定目标。</a:t>
            </a:r>
            <a:endParaRPr lang="en-US" sz="1575" dirty="0"/>
          </a:p>
        </p:txBody>
      </p:sp>
      <p:sp>
        <p:nvSpPr>
          <p:cNvPr id="18" name="Text 12"/>
          <p:cNvSpPr txBox="1"/>
          <p:nvPr/>
        </p:nvSpPr>
        <p:spPr>
          <a:xfrm>
            <a:off x="266700" y="3134767"/>
            <a:ext cx="46863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6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这是为解释方法逻辑而构造的模型，不是经过食品实验识别的规律。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" y="561975"/>
            <a:ext cx="8915400" cy="47625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" y="76200"/>
            <a:ext cx="666750" cy="409575"/>
          </a:xfrm>
          <a:prstGeom prst="rect">
            <a:avLst/>
          </a:prstGeom>
          <a:solidFill>
            <a:srgbClr val="003CAA"/>
          </a:solidFill>
          <a:ln/>
          <a:effectLst>
            <a:outerShdw sx="100000" sy="100000" kx="0" ky="0" algn="bl" rotWithShape="0" blurRad="19050" dist="34385" dir="3360000">
              <a:srgbClr val="AAB4CB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80975" y="109537"/>
            <a:ext cx="6477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</a:t>
            </a:r>
            <a:endParaRPr lang="en-US" sz="2325" dirty="0"/>
          </a:p>
        </p:txBody>
      </p:sp>
      <p:sp>
        <p:nvSpPr>
          <p:cNvPr id="6" name="Text 4"/>
          <p:cNvSpPr txBox="1"/>
          <p:nvPr/>
        </p:nvSpPr>
        <p:spPr>
          <a:xfrm>
            <a:off x="952500" y="109537"/>
            <a:ext cx="49720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方法设计</a:t>
            </a:r>
            <a:pPr algn="l" indent="0" marL="0">
              <a:buNone/>
            </a:pPr>
            <a:r>
              <a:rPr lang="en-US" sz="2250" b="1" dirty="0">
                <a:solidFill>
                  <a:srgbClr val="C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：两个调味通道共同适应扰动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8524875" y="247650"/>
            <a:ext cx="619125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9/16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66700" y="733425"/>
            <a:ext cx="8610600" cy="528638"/>
          </a:xfrm>
          <a:prstGeom prst="rect">
            <a:avLst/>
          </a:prstGeom>
          <a:noFill/>
          <a:ln w="9525">
            <a:solidFill>
              <a:srgbClr val="003CAA"/>
            </a:solidFill>
            <a:prstDash val="solid"/>
          </a:ln>
          <a:effectLst>
            <a:outerShdw sx="100000" sy="100000" kx="0" ky="0" algn="bl" rotWithShape="0" blurRad="19050" dist="34385" dir="3360000">
              <a:srgbClr val="B1BDD3">
                <a:alpha val="10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728913" y="857250"/>
            <a:ext cx="36861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用估计原料因子缩放两种调味用量</a:t>
            </a:r>
            <a:endParaRPr lang="en-US" sz="1875" dirty="0"/>
          </a:p>
        </p:txBody>
      </p:sp>
      <p:pic>
        <p:nvPicPr>
          <p:cNvPr id="10" name="Image 0" descr="Rendered as an image because of CSS ma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1452562"/>
            <a:ext cx="8610600" cy="33843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66700" y="2010073"/>
            <a:ext cx="952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机制解释</a:t>
            </a:r>
            <a:endParaRPr lang="en-US" sz="1650" dirty="0"/>
          </a:p>
        </p:txBody>
      </p:sp>
      <p:sp>
        <p:nvSpPr>
          <p:cNvPr id="12" name="Text 9"/>
          <p:cNvSpPr txBox="1"/>
          <p:nvPr/>
        </p:nvSpPr>
        <p:spPr>
          <a:xfrm>
            <a:off x="266700" y="2381548"/>
            <a:ext cx="3714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估计准确时，两个响应均回到指定目标。</a:t>
            </a:r>
            <a:endParaRPr lang="en-US" sz="1575" dirty="0"/>
          </a:p>
        </p:txBody>
      </p:sp>
      <p:sp>
        <p:nvSpPr>
          <p:cNvPr id="13" name="Text 10"/>
          <p:cNvSpPr txBox="1"/>
          <p:nvPr/>
        </p:nvSpPr>
        <p:spPr>
          <a:xfrm>
            <a:off x="4686300" y="2010073"/>
            <a:ext cx="952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误差来源</a:t>
            </a:r>
            <a:endParaRPr lang="en-US" sz="1650" dirty="0"/>
          </a:p>
        </p:txBody>
      </p:sp>
      <p:pic>
        <p:nvPicPr>
          <p:cNvPr id="14" name="Image 1" descr="Rendered as an image because of CSS ma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2476798"/>
            <a:ext cx="4191000" cy="63891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686300" y="3306217"/>
            <a:ext cx="35147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性能取决于估计误差和模型是否适用。</a:t>
            </a:r>
            <a:endParaRPr lang="en-US" sz="15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" y="561975"/>
            <a:ext cx="8915400" cy="47625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" y="76200"/>
            <a:ext cx="666750" cy="409575"/>
          </a:xfrm>
          <a:prstGeom prst="rect">
            <a:avLst/>
          </a:prstGeom>
          <a:solidFill>
            <a:srgbClr val="003CAA"/>
          </a:solidFill>
          <a:ln/>
          <a:effectLst>
            <a:outerShdw sx="100000" sy="100000" kx="0" ky="0" algn="bl" rotWithShape="0" blurRad="19050" dist="34385" dir="3360000">
              <a:srgbClr val="AAB4CB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80975" y="109537"/>
            <a:ext cx="6477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</a:t>
            </a:r>
            <a:endParaRPr lang="en-US" sz="2325" dirty="0"/>
          </a:p>
        </p:txBody>
      </p:sp>
      <p:sp>
        <p:nvSpPr>
          <p:cNvPr id="6" name="Text 4"/>
          <p:cNvSpPr txBox="1"/>
          <p:nvPr/>
        </p:nvSpPr>
        <p:spPr>
          <a:xfrm>
            <a:off x="952500" y="109537"/>
            <a:ext cx="49720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实验设计</a:t>
            </a:r>
            <a:pPr algn="l" indent="0" marL="0">
              <a:buNone/>
            </a:pPr>
            <a:r>
              <a:rPr lang="en-US" sz="2250" b="1" dirty="0">
                <a:solidFill>
                  <a:srgbClr val="C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：所有方案使用相同测试批次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8382000" y="247650"/>
            <a:ext cx="762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10/16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266700" y="762000"/>
            <a:ext cx="11620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可复现设置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494288" y="1133475"/>
            <a:ext cx="354330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575" dirty="0"/>
          </a:p>
        </p:txBody>
      </p:sp>
      <p:sp>
        <p:nvSpPr>
          <p:cNvPr id="10" name="Text 8"/>
          <p:cNvSpPr txBox="1"/>
          <p:nvPr/>
        </p:nvSpPr>
        <p:spPr>
          <a:xfrm>
            <a:off x="774204" y="1190625"/>
            <a:ext cx="15525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 个合成批次</a:t>
            </a:r>
            <a:endParaRPr lang="en-US" sz="1575" dirty="0"/>
          </a:p>
        </p:txBody>
      </p:sp>
      <p:sp>
        <p:nvSpPr>
          <p:cNvPr id="11" name="Text 9"/>
          <p:cNvSpPr txBox="1"/>
          <p:nvPr/>
        </p:nvSpPr>
        <p:spPr>
          <a:xfrm>
            <a:off x="494288" y="1493490"/>
            <a:ext cx="354330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575" dirty="0"/>
          </a:p>
        </p:txBody>
      </p:sp>
      <p:sp>
        <p:nvSpPr>
          <p:cNvPr id="12" name="Text 10"/>
          <p:cNvSpPr txBox="1"/>
          <p:nvPr/>
        </p:nvSpPr>
        <p:spPr>
          <a:xfrm>
            <a:off x="774204" y="1550640"/>
            <a:ext cx="21050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随机种子：20261019</a:t>
            </a:r>
            <a:endParaRPr lang="en-US" sz="1575" dirty="0"/>
          </a:p>
        </p:txBody>
      </p:sp>
      <p:sp>
        <p:nvSpPr>
          <p:cNvPr id="13" name="Text 11"/>
          <p:cNvSpPr txBox="1"/>
          <p:nvPr/>
        </p:nvSpPr>
        <p:spPr>
          <a:xfrm>
            <a:off x="494288" y="1853505"/>
            <a:ext cx="354330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575" dirty="0"/>
          </a:p>
        </p:txBody>
      </p:sp>
      <p:sp>
        <p:nvSpPr>
          <p:cNvPr id="14" name="Text 12"/>
          <p:cNvSpPr txBox="1"/>
          <p:nvPr/>
        </p:nvSpPr>
        <p:spPr>
          <a:xfrm>
            <a:off x="774204" y="1910655"/>
            <a:ext cx="31432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原料因子：均匀分布 [0.65, 1.35]</a:t>
            </a:r>
            <a:endParaRPr lang="en-US" sz="1575" dirty="0"/>
          </a:p>
        </p:txBody>
      </p:sp>
      <p:sp>
        <p:nvSpPr>
          <p:cNvPr id="15" name="Text 13"/>
          <p:cNvSpPr txBox="1"/>
          <p:nvPr/>
        </p:nvSpPr>
        <p:spPr>
          <a:xfrm>
            <a:off x="494288" y="2213521"/>
            <a:ext cx="354330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575" dirty="0"/>
          </a:p>
        </p:txBody>
      </p:sp>
      <p:sp>
        <p:nvSpPr>
          <p:cNvPr id="16" name="Text 14"/>
          <p:cNvSpPr txBox="1"/>
          <p:nvPr/>
        </p:nvSpPr>
        <p:spPr>
          <a:xfrm>
            <a:off x="774204" y="2270671"/>
            <a:ext cx="21526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估计噪声标准差：0.03</a:t>
            </a:r>
            <a:endParaRPr lang="en-US" sz="1575" dirty="0"/>
          </a:p>
        </p:txBody>
      </p:sp>
      <p:sp>
        <p:nvSpPr>
          <p:cNvPr id="17" name="Text 15"/>
          <p:cNvSpPr txBox="1"/>
          <p:nvPr/>
        </p:nvSpPr>
        <p:spPr>
          <a:xfrm>
            <a:off x="4686300" y="762000"/>
            <a:ext cx="9525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公平比较</a:t>
            </a:r>
            <a:endParaRPr lang="en-US" sz="1650" dirty="0"/>
          </a:p>
        </p:txBody>
      </p:sp>
      <p:sp>
        <p:nvSpPr>
          <p:cNvPr id="18" name="Text 16"/>
          <p:cNvSpPr txBox="1"/>
          <p:nvPr/>
        </p:nvSpPr>
        <p:spPr>
          <a:xfrm>
            <a:off x="4686300" y="1133475"/>
            <a:ext cx="42100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固定目标、模型与原料批次，仅改变配比规则。</a:t>
            </a:r>
            <a:endParaRPr lang="en-US" sz="1575" dirty="0"/>
          </a:p>
        </p:txBody>
      </p:sp>
      <p:sp>
        <p:nvSpPr>
          <p:cNvPr id="19" name="Text 17"/>
          <p:cNvSpPr txBox="1"/>
          <p:nvPr/>
        </p:nvSpPr>
        <p:spPr>
          <a:xfrm>
            <a:off x="4686300" y="1666875"/>
            <a:ext cx="342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b="1" dirty="0">
                <a:solidFill>
                  <a:srgbClr val="C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评价：RMSE 与误差第 95 百分位。</a:t>
            </a:r>
            <a:endParaRPr lang="en-US" sz="1575" dirty="0"/>
          </a:p>
        </p:txBody>
      </p:sp>
      <p:sp>
        <p:nvSpPr>
          <p:cNvPr id="20" name="Text 18"/>
          <p:cNvSpPr txBox="1"/>
          <p:nvPr/>
        </p:nvSpPr>
        <p:spPr>
          <a:xfrm>
            <a:off x="4686300" y="1971675"/>
            <a:ext cx="29146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按批次保留数据，可逐条检查。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266700" y="2821186"/>
            <a:ext cx="8610600" cy="19050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66700" y="2973586"/>
            <a:ext cx="49339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这一实验验证模型内的机制，不等同于试吃实验。</a:t>
            </a:r>
            <a:endParaRPr lang="en-US" sz="17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" y="561975"/>
            <a:ext cx="8915400" cy="47625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" y="76200"/>
            <a:ext cx="666750" cy="409575"/>
          </a:xfrm>
          <a:prstGeom prst="rect">
            <a:avLst/>
          </a:prstGeom>
          <a:solidFill>
            <a:srgbClr val="003CAA"/>
          </a:solidFill>
          <a:ln/>
          <a:effectLst>
            <a:outerShdw sx="100000" sy="100000" kx="0" ky="0" algn="bl" rotWithShape="0" blurRad="19050" dist="34385" dir="3360000">
              <a:srgbClr val="AAB4CB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80975" y="109537"/>
            <a:ext cx="6477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</a:t>
            </a:r>
            <a:endParaRPr lang="en-US" sz="2325" dirty="0"/>
          </a:p>
        </p:txBody>
      </p:sp>
      <p:sp>
        <p:nvSpPr>
          <p:cNvPr id="6" name="Text 4"/>
          <p:cNvSpPr txBox="1"/>
          <p:nvPr/>
        </p:nvSpPr>
        <p:spPr>
          <a:xfrm>
            <a:off x="952500" y="109537"/>
            <a:ext cx="55435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对比结果</a:t>
            </a:r>
            <a:pPr algn="l" indent="0" marL="0">
              <a:buNone/>
            </a:pPr>
            <a:r>
              <a:rPr lang="en-US" sz="2250" b="1" dirty="0">
                <a:solidFill>
                  <a:srgbClr val="C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：协同调节减少教学模型中的偏差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8382000" y="247650"/>
            <a:ext cx="762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11/16</a:t>
            </a:r>
            <a:endParaRPr lang="en-US" sz="1650" dirty="0"/>
          </a:p>
        </p:txBody>
      </p:sp>
      <p:pic>
        <p:nvPicPr>
          <p:cNvPr id="8" name="Image 0" descr="测试误差对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923925"/>
            <a:ext cx="4191000" cy="1930003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686300" y="1243013"/>
            <a:ext cx="41910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686300" y="733425"/>
            <a:ext cx="2063948" cy="519112"/>
          </a:xfrm>
          <a:prstGeom prst="rect">
            <a:avLst/>
          </a:prstGeom>
          <a:solidFill>
            <a:srgbClr val="EDF2FF"/>
          </a:solidFill>
          <a:ln/>
        </p:spPr>
      </p:sp>
      <p:sp>
        <p:nvSpPr>
          <p:cNvPr id="11" name="Shape 8"/>
          <p:cNvSpPr/>
          <p:nvPr/>
        </p:nvSpPr>
        <p:spPr>
          <a:xfrm>
            <a:off x="4686300" y="1243013"/>
            <a:ext cx="2063948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470624" y="876300"/>
            <a:ext cx="495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750248" y="733425"/>
            <a:ext cx="1094929" cy="519112"/>
          </a:xfrm>
          <a:prstGeom prst="rect">
            <a:avLst/>
          </a:prstGeom>
          <a:solidFill>
            <a:srgbClr val="EDF2FF"/>
          </a:solidFill>
          <a:ln/>
        </p:spPr>
      </p:sp>
      <p:sp>
        <p:nvSpPr>
          <p:cNvPr id="14" name="Shape 11"/>
          <p:cNvSpPr/>
          <p:nvPr/>
        </p:nvSpPr>
        <p:spPr>
          <a:xfrm>
            <a:off x="6750248" y="1243013"/>
            <a:ext cx="1094929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940451" y="876300"/>
            <a:ext cx="7143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845177" y="733425"/>
            <a:ext cx="1032123" cy="519112"/>
          </a:xfrm>
          <a:prstGeom prst="rect">
            <a:avLst/>
          </a:prstGeom>
          <a:solidFill>
            <a:srgbClr val="EDF2FF"/>
          </a:solidFill>
          <a:ln/>
        </p:spPr>
      </p:sp>
      <p:sp>
        <p:nvSpPr>
          <p:cNvPr id="17" name="Shape 14"/>
          <p:cNvSpPr/>
          <p:nvPr/>
        </p:nvSpPr>
        <p:spPr>
          <a:xfrm>
            <a:off x="7845177" y="1243013"/>
            <a:ext cx="1032123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099227" y="876300"/>
            <a:ext cx="5238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P95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686300" y="1766887"/>
            <a:ext cx="41910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4686300" y="1766887"/>
            <a:ext cx="2063948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184874" y="1400175"/>
            <a:ext cx="1066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固定原配方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750248" y="1766887"/>
            <a:ext cx="1094929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964263" y="1400175"/>
            <a:ext cx="666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0.345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7845177" y="1766887"/>
            <a:ext cx="1032123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027789" y="1400175"/>
            <a:ext cx="666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0.468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4686300" y="2290762"/>
            <a:ext cx="41910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4686300" y="2290762"/>
            <a:ext cx="2063948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5184874" y="1924050"/>
            <a:ext cx="1066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固定加辣椒</a:t>
            </a:r>
            <a:endParaRPr lang="en-US" sz="1500" dirty="0"/>
          </a:p>
        </p:txBody>
      </p:sp>
      <p:sp>
        <p:nvSpPr>
          <p:cNvPr id="29" name="Shape 26"/>
          <p:cNvSpPr/>
          <p:nvPr/>
        </p:nvSpPr>
        <p:spPr>
          <a:xfrm>
            <a:off x="6750248" y="2290762"/>
            <a:ext cx="1094929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964263" y="1924050"/>
            <a:ext cx="666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0.181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7845177" y="2290762"/>
            <a:ext cx="1032123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027789" y="1924050"/>
            <a:ext cx="666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0.383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4686300" y="2814638"/>
            <a:ext cx="41910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686300" y="2814638"/>
            <a:ext cx="2063948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4994374" y="2447925"/>
            <a:ext cx="1447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仅调整基础调味</a:t>
            </a:r>
            <a:endParaRPr lang="en-US" sz="1500" dirty="0"/>
          </a:p>
        </p:txBody>
      </p:sp>
      <p:sp>
        <p:nvSpPr>
          <p:cNvPr id="36" name="Shape 33"/>
          <p:cNvSpPr/>
          <p:nvPr/>
        </p:nvSpPr>
        <p:spPr>
          <a:xfrm>
            <a:off x="6750248" y="2814638"/>
            <a:ext cx="1094929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964263" y="2447925"/>
            <a:ext cx="666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0.069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7845177" y="2814638"/>
            <a:ext cx="1032123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8027789" y="2447925"/>
            <a:ext cx="666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0.138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4686300" y="3338513"/>
            <a:ext cx="41910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686300" y="3338513"/>
            <a:ext cx="2063948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5089624" y="2971800"/>
            <a:ext cx="1257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配比协同调节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6750248" y="3338513"/>
            <a:ext cx="1094929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964263" y="2971800"/>
            <a:ext cx="666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0.027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7845177" y="3338513"/>
            <a:ext cx="1032123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8027789" y="2971800"/>
            <a:ext cx="666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0.054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266700" y="3524250"/>
            <a:ext cx="8610600" cy="19050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266700" y="3676650"/>
            <a:ext cx="49339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在所设模型与噪声下，协同调节更接近指定响应。</a:t>
            </a:r>
            <a:endParaRPr lang="en-US" sz="1725" dirty="0"/>
          </a:p>
        </p:txBody>
      </p:sp>
      <p:sp>
        <p:nvSpPr>
          <p:cNvPr id="49" name="Text 46"/>
          <p:cNvSpPr txBox="1"/>
          <p:nvPr/>
        </p:nvSpPr>
        <p:spPr>
          <a:xfrm>
            <a:off x="266700" y="3986213"/>
            <a:ext cx="454342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6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数据来自附带 Python 程序的实际运行；不能据此声称菜更好吃。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" y="561975"/>
            <a:ext cx="8915400" cy="47625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" y="76200"/>
            <a:ext cx="666750" cy="409575"/>
          </a:xfrm>
          <a:prstGeom prst="rect">
            <a:avLst/>
          </a:prstGeom>
          <a:solidFill>
            <a:srgbClr val="003CAA"/>
          </a:solidFill>
          <a:ln/>
          <a:effectLst>
            <a:outerShdw sx="100000" sy="100000" kx="0" ky="0" algn="bl" rotWithShape="0" blurRad="19050" dist="34385" dir="3360000">
              <a:srgbClr val="AAB4CB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80975" y="109537"/>
            <a:ext cx="6477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</a:t>
            </a:r>
            <a:endParaRPr lang="en-US" sz="2325" dirty="0"/>
          </a:p>
        </p:txBody>
      </p:sp>
      <p:sp>
        <p:nvSpPr>
          <p:cNvPr id="6" name="Text 4"/>
          <p:cNvSpPr txBox="1"/>
          <p:nvPr/>
        </p:nvSpPr>
        <p:spPr>
          <a:xfrm>
            <a:off x="952500" y="109537"/>
            <a:ext cx="58293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消融分析</a:t>
            </a:r>
            <a:pPr algn="l" indent="0" marL="0">
              <a:buNone/>
            </a:pPr>
            <a:r>
              <a:rPr lang="en-US" sz="2250" b="1" dirty="0">
                <a:solidFill>
                  <a:srgbClr val="C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：只调一个通道会保留另一通道误差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8382000" y="247650"/>
            <a:ext cx="762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12/16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66700" y="733425"/>
            <a:ext cx="8610600" cy="528638"/>
          </a:xfrm>
          <a:prstGeom prst="rect">
            <a:avLst/>
          </a:prstGeom>
          <a:noFill/>
          <a:ln w="9525">
            <a:solidFill>
              <a:srgbClr val="003CAA"/>
            </a:solidFill>
            <a:prstDash val="solid"/>
          </a:ln>
          <a:effectLst>
            <a:outerShdw sx="100000" sy="100000" kx="0" ky="0" algn="bl" rotWithShape="0" blurRad="19050" dist="34385" dir="3360000">
              <a:srgbClr val="B1BDD3">
                <a:alpha val="10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776413" y="857250"/>
            <a:ext cx="559117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消融问题：改善来自新增通道，还是来自状态调节？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266700" y="1943100"/>
            <a:ext cx="86106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66700" y="1433513"/>
            <a:ext cx="2619821" cy="519112"/>
          </a:xfrm>
          <a:prstGeom prst="rect">
            <a:avLst/>
          </a:prstGeom>
          <a:solidFill>
            <a:srgbClr val="EDF2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66700" y="1943100"/>
            <a:ext cx="2619821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28886" y="1576388"/>
            <a:ext cx="495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886521" y="1433513"/>
            <a:ext cx="2300288" cy="519112"/>
          </a:xfrm>
          <a:prstGeom prst="rect">
            <a:avLst/>
          </a:prstGeom>
          <a:solidFill>
            <a:srgbClr val="EDF2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886521" y="1943100"/>
            <a:ext cx="2300288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08015" y="1576388"/>
            <a:ext cx="1257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基础通道调节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186809" y="1433513"/>
            <a:ext cx="2300288" cy="519112"/>
          </a:xfrm>
          <a:prstGeom prst="rect">
            <a:avLst/>
          </a:prstGeom>
          <a:solidFill>
            <a:srgbClr val="EDF2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186809" y="1943100"/>
            <a:ext cx="2300288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08303" y="1576388"/>
            <a:ext cx="1257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辣椒通道调节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487096" y="1433513"/>
            <a:ext cx="1390204" cy="519112"/>
          </a:xfrm>
          <a:prstGeom prst="rect">
            <a:avLst/>
          </a:prstGeom>
          <a:solidFill>
            <a:srgbClr val="EDF2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487096" y="1943100"/>
            <a:ext cx="1390204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824936" y="1576388"/>
            <a:ext cx="7143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RMSE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266700" y="2466975"/>
            <a:ext cx="86106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66700" y="2466975"/>
            <a:ext cx="2619821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43136" y="2100263"/>
            <a:ext cx="1066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固定加辣椒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886521" y="2466975"/>
            <a:ext cx="2300288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884265" y="2100263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186809" y="2466975"/>
            <a:ext cx="2300288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184553" y="2100263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487096" y="2466975"/>
            <a:ext cx="1390204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848749" y="2100263"/>
            <a:ext cx="666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0.181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266700" y="2990850"/>
            <a:ext cx="86106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66700" y="2990850"/>
            <a:ext cx="2619821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52636" y="2624138"/>
            <a:ext cx="1447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仅调整基础调味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2886521" y="2990850"/>
            <a:ext cx="2300288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3884265" y="2624138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186809" y="2990850"/>
            <a:ext cx="2300288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184553" y="2624138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7487096" y="2990850"/>
            <a:ext cx="1390204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848749" y="2624138"/>
            <a:ext cx="666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0.069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266700" y="3514725"/>
            <a:ext cx="86106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266700" y="3514725"/>
            <a:ext cx="2619821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7886" y="3148012"/>
            <a:ext cx="1257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配比协同调节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2886521" y="3514725"/>
            <a:ext cx="2300288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884265" y="3148012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5186809" y="3514725"/>
            <a:ext cx="2300288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184553" y="3148012"/>
            <a:ext cx="304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7487096" y="3514725"/>
            <a:ext cx="1390204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7848749" y="3148012"/>
            <a:ext cx="666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0.027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266700" y="3700463"/>
            <a:ext cx="8610600" cy="19050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266700" y="3852862"/>
            <a:ext cx="427672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逐项移除机制，有助于解释各环节的作用。</a:t>
            </a:r>
            <a:endParaRPr lang="en-US" sz="17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" y="561975"/>
            <a:ext cx="8915400" cy="47625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" y="76200"/>
            <a:ext cx="666750" cy="409575"/>
          </a:xfrm>
          <a:prstGeom prst="rect">
            <a:avLst/>
          </a:prstGeom>
          <a:solidFill>
            <a:srgbClr val="003CAA"/>
          </a:solidFill>
          <a:ln/>
          <a:effectLst>
            <a:outerShdw sx="100000" sy="100000" kx="0" ky="0" algn="bl" rotWithShape="0" blurRad="19050" dist="34385" dir="3360000">
              <a:srgbClr val="AAB4CB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80975" y="109537"/>
            <a:ext cx="6477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2.6</a:t>
            </a:r>
            <a:endParaRPr lang="en-US" sz="2325" dirty="0"/>
          </a:p>
        </p:txBody>
      </p:sp>
      <p:sp>
        <p:nvSpPr>
          <p:cNvPr id="6" name="Text 4"/>
          <p:cNvSpPr txBox="1"/>
          <p:nvPr/>
        </p:nvSpPr>
        <p:spPr>
          <a:xfrm>
            <a:off x="952500" y="109537"/>
            <a:ext cx="55435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扰动分析</a:t>
            </a:r>
            <a:pPr algn="l" indent="0" marL="0">
              <a:buNone/>
            </a:pPr>
            <a:r>
              <a:rPr lang="en-US" sz="2250" b="1" dirty="0">
                <a:solidFill>
                  <a:srgbClr val="C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：固定用量对偏离名义状态更敏感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8382000" y="247650"/>
            <a:ext cx="762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13/16</a:t>
            </a:r>
            <a:endParaRPr lang="en-US" sz="1650" dirty="0"/>
          </a:p>
        </p:txBody>
      </p:sp>
      <p:pic>
        <p:nvPicPr>
          <p:cNvPr id="8" name="Image 0" descr="原料因子与响应误差散点图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809625"/>
            <a:ext cx="8610600" cy="300037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66700" y="3829050"/>
            <a:ext cx="575310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6B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教学仿真；点为同一测试批次。此图没有评估真实食品、不同锅具或其他响应规律。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" y="561975"/>
            <a:ext cx="8915400" cy="47625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" y="76200"/>
            <a:ext cx="666750" cy="409575"/>
          </a:xfrm>
          <a:prstGeom prst="rect">
            <a:avLst/>
          </a:prstGeom>
          <a:solidFill>
            <a:srgbClr val="003CAA"/>
          </a:solidFill>
          <a:ln/>
          <a:effectLst>
            <a:outerShdw sx="100000" sy="100000" kx="0" ky="0" algn="bl" rotWithShape="0" blurRad="19050" dist="34385" dir="3360000">
              <a:srgbClr val="AAB4CB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80975" y="109537"/>
            <a:ext cx="6477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3.1</a:t>
            </a:r>
            <a:endParaRPr lang="en-US" sz="2325" dirty="0"/>
          </a:p>
        </p:txBody>
      </p:sp>
      <p:sp>
        <p:nvSpPr>
          <p:cNvPr id="6" name="Text 4"/>
          <p:cNvSpPr txBox="1"/>
          <p:nvPr/>
        </p:nvSpPr>
        <p:spPr>
          <a:xfrm>
            <a:off x="952500" y="109537"/>
            <a:ext cx="49720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讨论与边界</a:t>
            </a:r>
            <a:pPr algn="l" indent="0" marL="0">
              <a:buNone/>
            </a:pPr>
            <a:r>
              <a:rPr lang="en-US" sz="2250" b="1" dirty="0">
                <a:solidFill>
                  <a:srgbClr val="C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：真实结论仍需要真实实验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8382000" y="247650"/>
            <a:ext cx="762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14/16</a:t>
            </a:r>
            <a:endParaRPr lang="en-US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266700" y="762000"/>
            <a:ext cx="13716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当前结果支持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494288" y="1133475"/>
            <a:ext cx="354330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575" dirty="0"/>
          </a:p>
        </p:txBody>
      </p:sp>
      <p:sp>
        <p:nvSpPr>
          <p:cNvPr id="10" name="Text 8"/>
          <p:cNvSpPr txBox="1"/>
          <p:nvPr/>
        </p:nvSpPr>
        <p:spPr>
          <a:xfrm>
            <a:off x="774204" y="1190625"/>
            <a:ext cx="27146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在给定模型下，解析补偿有效</a:t>
            </a:r>
            <a:endParaRPr lang="en-US" sz="1575" dirty="0"/>
          </a:p>
        </p:txBody>
      </p:sp>
      <p:sp>
        <p:nvSpPr>
          <p:cNvPr id="11" name="Text 9"/>
          <p:cNvSpPr txBox="1"/>
          <p:nvPr/>
        </p:nvSpPr>
        <p:spPr>
          <a:xfrm>
            <a:off x="494288" y="1493490"/>
            <a:ext cx="354330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575" dirty="0"/>
          </a:p>
        </p:txBody>
      </p:sp>
      <p:sp>
        <p:nvSpPr>
          <p:cNvPr id="12" name="Text 10"/>
          <p:cNvSpPr txBox="1"/>
          <p:nvPr/>
        </p:nvSpPr>
        <p:spPr>
          <a:xfrm>
            <a:off x="774204" y="1550640"/>
            <a:ext cx="21145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估计质量影响响应偏差</a:t>
            </a:r>
            <a:endParaRPr lang="en-US" sz="1575" dirty="0"/>
          </a:p>
        </p:txBody>
      </p:sp>
      <p:sp>
        <p:nvSpPr>
          <p:cNvPr id="13" name="Text 11"/>
          <p:cNvSpPr txBox="1"/>
          <p:nvPr/>
        </p:nvSpPr>
        <p:spPr>
          <a:xfrm>
            <a:off x="494288" y="1853505"/>
            <a:ext cx="354330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575" dirty="0"/>
          </a:p>
        </p:txBody>
      </p:sp>
      <p:sp>
        <p:nvSpPr>
          <p:cNvPr id="14" name="Text 12"/>
          <p:cNvSpPr txBox="1"/>
          <p:nvPr/>
        </p:nvSpPr>
        <p:spPr>
          <a:xfrm>
            <a:off x="774204" y="1910655"/>
            <a:ext cx="21145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消融能够解释通道作用</a:t>
            </a:r>
            <a:endParaRPr lang="en-US" sz="1575" dirty="0"/>
          </a:p>
        </p:txBody>
      </p:sp>
      <p:sp>
        <p:nvSpPr>
          <p:cNvPr id="15" name="Text 13"/>
          <p:cNvSpPr txBox="1"/>
          <p:nvPr/>
        </p:nvSpPr>
        <p:spPr>
          <a:xfrm>
            <a:off x="4686300" y="762000"/>
            <a:ext cx="158115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真实验证还需要</a:t>
            </a:r>
            <a:endParaRPr lang="en-US" sz="1650" dirty="0"/>
          </a:p>
        </p:txBody>
      </p:sp>
      <p:sp>
        <p:nvSpPr>
          <p:cNvPr id="16" name="Text 14"/>
          <p:cNvSpPr txBox="1"/>
          <p:nvPr/>
        </p:nvSpPr>
        <p:spPr>
          <a:xfrm>
            <a:off x="4913888" y="1133475"/>
            <a:ext cx="354330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575" dirty="0"/>
          </a:p>
        </p:txBody>
      </p:sp>
      <p:sp>
        <p:nvSpPr>
          <p:cNvPr id="17" name="Text 15"/>
          <p:cNvSpPr txBox="1"/>
          <p:nvPr/>
        </p:nvSpPr>
        <p:spPr>
          <a:xfrm>
            <a:off x="5193804" y="1190625"/>
            <a:ext cx="23145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明确人群与感官评价规则</a:t>
            </a:r>
            <a:endParaRPr lang="en-US" sz="1575" dirty="0"/>
          </a:p>
        </p:txBody>
      </p:sp>
      <p:sp>
        <p:nvSpPr>
          <p:cNvPr id="18" name="Text 16"/>
          <p:cNvSpPr txBox="1"/>
          <p:nvPr/>
        </p:nvSpPr>
        <p:spPr>
          <a:xfrm>
            <a:off x="4913888" y="1493490"/>
            <a:ext cx="354330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575" dirty="0"/>
          </a:p>
        </p:txBody>
      </p:sp>
      <p:sp>
        <p:nvSpPr>
          <p:cNvPr id="19" name="Text 17"/>
          <p:cNvSpPr txBox="1"/>
          <p:nvPr/>
        </p:nvSpPr>
        <p:spPr>
          <a:xfrm>
            <a:off x="5193804" y="1550640"/>
            <a:ext cx="2514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随机呈样、盲评和重复批次</a:t>
            </a:r>
            <a:endParaRPr lang="en-US" sz="1575" dirty="0"/>
          </a:p>
        </p:txBody>
      </p:sp>
      <p:sp>
        <p:nvSpPr>
          <p:cNvPr id="20" name="Text 18"/>
          <p:cNvSpPr txBox="1"/>
          <p:nvPr/>
        </p:nvSpPr>
        <p:spPr>
          <a:xfrm>
            <a:off x="4913888" y="1853505"/>
            <a:ext cx="354330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575" dirty="0"/>
          </a:p>
        </p:txBody>
      </p:sp>
      <p:sp>
        <p:nvSpPr>
          <p:cNvPr id="21" name="Text 19"/>
          <p:cNvSpPr txBox="1"/>
          <p:nvPr/>
        </p:nvSpPr>
        <p:spPr>
          <a:xfrm>
            <a:off x="5193804" y="1910655"/>
            <a:ext cx="2514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对原料、火候和用量做记录</a:t>
            </a:r>
            <a:endParaRPr lang="en-US" sz="1575" dirty="0"/>
          </a:p>
        </p:txBody>
      </p:sp>
      <p:sp>
        <p:nvSpPr>
          <p:cNvPr id="22" name="Text 20"/>
          <p:cNvSpPr txBox="1"/>
          <p:nvPr/>
        </p:nvSpPr>
        <p:spPr>
          <a:xfrm>
            <a:off x="4913888" y="2213521"/>
            <a:ext cx="354330" cy="360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▪ </a:t>
            </a:r>
            <a:endParaRPr lang="en-US" sz="1575" dirty="0"/>
          </a:p>
        </p:txBody>
      </p:sp>
      <p:sp>
        <p:nvSpPr>
          <p:cNvPr id="23" name="Text 21"/>
          <p:cNvSpPr txBox="1"/>
          <p:nvPr/>
        </p:nvSpPr>
        <p:spPr>
          <a:xfrm>
            <a:off x="5193804" y="2270671"/>
            <a:ext cx="2514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75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检查模型与实际响应的偏差</a:t>
            </a:r>
            <a:endParaRPr lang="en-US" sz="1575" dirty="0"/>
          </a:p>
        </p:txBody>
      </p:sp>
      <p:sp>
        <p:nvSpPr>
          <p:cNvPr id="24" name="Shape 22"/>
          <p:cNvSpPr/>
          <p:nvPr/>
        </p:nvSpPr>
        <p:spPr>
          <a:xfrm>
            <a:off x="266700" y="2821186"/>
            <a:ext cx="8610600" cy="19050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66700" y="2973586"/>
            <a:ext cx="493395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模型内成立的结论，需要在目标场景中继续验证。</a:t>
            </a:r>
            <a:endParaRPr lang="en-US" sz="17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" y="561975"/>
            <a:ext cx="8915400" cy="47625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" y="76200"/>
            <a:ext cx="666750" cy="409575"/>
          </a:xfrm>
          <a:prstGeom prst="rect">
            <a:avLst/>
          </a:prstGeom>
          <a:solidFill>
            <a:srgbClr val="003CAA"/>
          </a:solidFill>
          <a:ln/>
          <a:effectLst>
            <a:outerShdw sx="100000" sy="100000" kx="0" ky="0" algn="bl" rotWithShape="0" blurRad="19050" dist="34385" dir="3360000">
              <a:srgbClr val="AAB4CB">
                <a:alpha val="10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80975" y="109537"/>
            <a:ext cx="6477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2325" dirty="0"/>
          </a:p>
        </p:txBody>
      </p:sp>
      <p:sp>
        <p:nvSpPr>
          <p:cNvPr id="6" name="Text 4"/>
          <p:cNvSpPr txBox="1"/>
          <p:nvPr/>
        </p:nvSpPr>
        <p:spPr>
          <a:xfrm>
            <a:off x="952500" y="109537"/>
            <a:ext cx="52578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工作总结</a:t>
            </a:r>
            <a:pPr algn="l" indent="0" marL="0">
              <a:buNone/>
            </a:pPr>
            <a:r>
              <a:rPr lang="en-US" sz="2250" b="1" dirty="0">
                <a:solidFill>
                  <a:srgbClr val="C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：把一道菜组织成完整研究论证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8382000" y="247650"/>
            <a:ext cx="762000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15/16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66700" y="1243013"/>
            <a:ext cx="86106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266700" y="733425"/>
            <a:ext cx="1683246" cy="519112"/>
          </a:xfrm>
          <a:prstGeom prst="rect">
            <a:avLst/>
          </a:prstGeom>
          <a:solidFill>
            <a:srgbClr val="EDF2FF"/>
          </a:solidFill>
          <a:ln/>
        </p:spPr>
      </p:sp>
      <p:sp>
        <p:nvSpPr>
          <p:cNvPr id="10" name="Shape 8"/>
          <p:cNvSpPr/>
          <p:nvPr/>
        </p:nvSpPr>
        <p:spPr>
          <a:xfrm>
            <a:off x="266700" y="1243013"/>
            <a:ext cx="1683246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0173" y="876300"/>
            <a:ext cx="876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研究环节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949946" y="733425"/>
            <a:ext cx="3625453" cy="519112"/>
          </a:xfrm>
          <a:prstGeom prst="rect">
            <a:avLst/>
          </a:prstGeom>
          <a:solidFill>
            <a:srgbClr val="EDF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9946" y="1243013"/>
            <a:ext cx="3625453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24523" y="876300"/>
            <a:ext cx="876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本例做法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575399" y="733425"/>
            <a:ext cx="3301901" cy="519112"/>
          </a:xfrm>
          <a:prstGeom prst="rect">
            <a:avLst/>
          </a:prstGeom>
          <a:solidFill>
            <a:srgbClr val="EDF2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575399" y="1243013"/>
            <a:ext cx="3301901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7200" y="876300"/>
            <a:ext cx="1638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可复用的汇报方法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66700" y="1766887"/>
            <a:ext cx="86106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66700" y="1766887"/>
            <a:ext cx="1683246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0673" y="1400175"/>
            <a:ext cx="495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949946" y="1766887"/>
            <a:ext cx="3625453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943523" y="1400175"/>
            <a:ext cx="1638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批次响应难以一致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575399" y="1766887"/>
            <a:ext cx="3301901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502450" y="1400175"/>
            <a:ext cx="1447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从明确困难出发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66700" y="2290762"/>
            <a:ext cx="86106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66700" y="2290762"/>
            <a:ext cx="1683246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0673" y="1924050"/>
            <a:ext cx="495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1949946" y="2290762"/>
            <a:ext cx="3625453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848273" y="1924050"/>
            <a:ext cx="1828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按估计状态协同调节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575399" y="2290762"/>
            <a:ext cx="3301901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11950" y="1924050"/>
            <a:ext cx="1828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解释机制与成立条件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266700" y="2814638"/>
            <a:ext cx="86106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66700" y="2814638"/>
            <a:ext cx="1683246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60673" y="2447925"/>
            <a:ext cx="495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1949946" y="2814638"/>
            <a:ext cx="3625453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753023" y="2447925"/>
            <a:ext cx="2019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对照、消融和扰动分析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575399" y="2814638"/>
            <a:ext cx="3301901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11950" y="2447925"/>
            <a:ext cx="1828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让实验逐项回答问题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266700" y="3338513"/>
            <a:ext cx="8610600" cy="9525"/>
          </a:xfrm>
          <a:prstGeom prst="rect">
            <a:avLst/>
          </a:prstGeom>
          <a:solidFill>
            <a:srgbClr val="9CA3AF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266700" y="3338513"/>
            <a:ext cx="1683246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60673" y="2971800"/>
            <a:ext cx="495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949946" y="3338513"/>
            <a:ext cx="3625453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2848273" y="2971800"/>
            <a:ext cx="1828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给定模型内偏差减小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5575399" y="3338513"/>
            <a:ext cx="3301901" cy="9525"/>
          </a:xfrm>
          <a:prstGeom prst="rect">
            <a:avLst/>
          </a:prstGeom>
          <a:solidFill>
            <a:srgbClr val="B0BED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311950" y="2971800"/>
            <a:ext cx="1828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贡献与证据范围一致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266700" y="3524250"/>
            <a:ext cx="8610600" cy="19050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266700" y="3676650"/>
            <a:ext cx="5372100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一道家常菜也能讲出清楚的问题、机制、证据和边界。</a:t>
            </a:r>
            <a:endParaRPr lang="en-US" sz="17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066800" y="700088"/>
            <a:ext cx="1428750" cy="28575"/>
          </a:xfrm>
          <a:prstGeom prst="rect">
            <a:avLst/>
          </a:prstGeom>
          <a:solidFill>
            <a:srgbClr val="003CA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295650" y="533400"/>
            <a:ext cx="2552700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科研汇报教学示例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648450" y="700088"/>
            <a:ext cx="1428750" cy="28575"/>
          </a:xfrm>
          <a:prstGeom prst="rect">
            <a:avLst/>
          </a:prstGeom>
          <a:solidFill>
            <a:srgbClr val="003CAA"/>
          </a:solidFill>
          <a:ln/>
        </p:spPr>
      </p:sp>
      <p:pic>
        <p:nvPicPr>
          <p:cNvPr id="6" name="Image 0" descr="Rendered as an image because of CSS sv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038600" y="4538662"/>
            <a:ext cx="10668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</a:t>
            </a:r>
            <a:endParaRPr lang="en-US" sz="1875" dirty="0"/>
          </a:p>
        </p:txBody>
      </p:sp>
      <p:sp>
        <p:nvSpPr>
          <p:cNvPr id="8" name="Text 5"/>
          <p:cNvSpPr txBox="1"/>
          <p:nvPr/>
        </p:nvSpPr>
        <p:spPr>
          <a:xfrm>
            <a:off x="514350" y="1428750"/>
            <a:ext cx="81153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C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欢迎提问</a:t>
            </a:r>
            <a:br/>
            <a:pPr algn="ctr" indent="0" marL="0">
              <a:lnSpc>
                <a:spcPts val="4200"/>
              </a:lnSpc>
              <a:buNone/>
            </a:pPr>
            <a:r>
              <a:rPr lang="en-US" sz="3000" b="1" dirty="0">
                <a:solidFill>
                  <a:srgbClr val="C8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这盘菜的证据够不够？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3238500" y="2609850"/>
            <a:ext cx="2667000" cy="542925"/>
          </a:xfrm>
          <a:prstGeom prst="roundRect">
            <a:avLst>
              <a:gd name="adj" fmla="val 17544"/>
            </a:avLst>
          </a:prstGeom>
          <a:solidFill>
            <a:srgbClr val="003CAA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895725" y="2733675"/>
            <a:ext cx="13525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番茄课题组</a:t>
            </a:r>
            <a:endParaRPr lang="en-US" sz="1950" dirty="0"/>
          </a:p>
        </p:txBody>
      </p:sp>
      <p:sp>
        <p:nvSpPr>
          <p:cNvPr id="11" name="Text 8"/>
          <p:cNvSpPr txBox="1"/>
          <p:nvPr/>
        </p:nvSpPr>
        <p:spPr>
          <a:xfrm>
            <a:off x="2214563" y="3419475"/>
            <a:ext cx="4714875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725" b="1" dirty="0">
                <a:solidFill>
                  <a:srgbClr val="003C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示例代码与数据均已附带 欢迎讨论研究设计</a:t>
            </a:r>
            <a:endParaRPr lang="en-US" sz="17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西红柿炒鸡蛋科研汇报示例</dc:title>
  <dc:subject>PptxGenJS Presentation</dc:subject>
  <dc:creator>PptxGenJS</dc:creator>
  <cp:lastModifiedBy>PptxGenJS</cp:lastModifiedBy>
  <cp:revision>1</cp:revision>
  <dcterms:created xsi:type="dcterms:W3CDTF">2026-10-19T13:50:54Z</dcterms:created>
  <dcterms:modified xsi:type="dcterms:W3CDTF">2026-10-19T13:50:54Z</dcterms:modified>
</cp:coreProperties>
</file>